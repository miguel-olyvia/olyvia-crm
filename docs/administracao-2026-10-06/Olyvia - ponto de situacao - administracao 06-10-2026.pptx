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85d6f3e-f237-1c4e-a316-b2568b527597}">
          <p14:sldIdLst>
            <p14:sldId id="256"/>
            <p14:sldId id="257"/>
          </p14:sldIdLst>
        </p14:section>
        <p14:section name="Porquê" id="{61c8c113-5a1a-e965-5388-01db7556de00}">
          <p14:sldIdLst>
            <p14:sldId id="258"/>
            <p14:sldId id="259"/>
            <p14:sldId id="260"/>
            <p14:sldId id="261"/>
          </p14:sldIdLst>
        </p14:section>
        <p14:section name="Feito" id="{6626dd27-5c3b-550f-9b09-585e3af79970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</p14:sldIdLst>
        </p14:section>
        <p14:section name="Potencial" id="{1aa6d758-e341-ee4a-1953-5c3404c02a0a}">
          <p14:sldIdLst>
            <p14:sldId id="271"/>
            <p14:sldId id="272"/>
            <p14:sldId id="273"/>
            <p14:sldId id="274"/>
          </p14:sldIdLst>
        </p14:section>
        <p14:section name="Onde estamos" id="{5fe4ca69-9436-e879-2ba8-dcaf3dcb362c}">
          <p14:sldIdLst>
            <p14:sldId id="275"/>
            <p14:sldId id="276"/>
            <p14:sldId id="277"/>
            <p14:sldId id="278"/>
          </p14:sldIdLst>
        </p14:section>
        <p14:section name="Decisões" id="{c44a45f3-0df0-afe6-7a87-8388ac201041}">
          <p14:sldIdLst>
            <p14:sldId id="279"/>
            <p14:sldId id="280"/>
          </p14:sldIdLst>
        </p14:section>
        <p14:section name="Fecho" id="{301d8129-0650-4c53-64ea-6f75ac3d5deb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5F0E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F5F0E8"/>
                </a:solidFill>
                <a:latin typeface="+mn-lt"/>
              </a:rPr>
              <a:t>Alterações publicadas por mês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Alterações</c:v>
                </c:pt>
              </c:strCache>
            </c:strRef>
          </c:tx>
          <c:spPr>
            <a:solidFill>
              <a:srgbClr val="67A39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5F0E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Jun</c:v>
                  </c:pt>
                  <c:pt idx="1">
                    <c:v>Jul</c:v>
                  </c:pt>
                  <c:pt idx="2">
                    <c:v>Ago</c:v>
                  </c:pt>
                  <c:pt idx="3">
                    <c:v>Set</c:v>
                  </c:pt>
                  <c:pt idx="4">
                    <c:v>Out (1–3)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286</c:v>
                </c:pt>
                <c:pt idx="2">
                  <c:v>445</c:v>
                </c:pt>
                <c:pt idx="3">
                  <c:v>495</c:v>
                </c:pt>
                <c:pt idx="4">
                  <c:v>36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5F0E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8A39A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Situação a 03/10/2026. A apresentação tem três partes: o que já funciona, o potencial para o grupo e o que precisamos da administração.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partes. A parte 3 (potencial) é a novidade desta apresentação.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diagnóstico vem das reuniões com Operações: manuais em Word e Excel, ordens no Infraspeak, levantamentos sem estrutura. A Olyvia substitui estas peças por um percurso único.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do grupo BMLAR: 'Do edifício ao lar'. Hoje a Olyvia cobre captar, vender e transformar (Mudelar). O módulo de ordens de trabalho e planos preventivos já existe e é a ponte natural para a manutenção (BMG). Esta ligação é potencial, ainda não está em uso pela BMG.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de 1 461 commits no ramo principal; sem repetições, cerca de 1 190. O código já vinha de uma versão anterior; 18/06 é a primeira versão neste repositório. Pico de trabalho no fim de agosto.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passo herda os dados do anterior: o cliente, a morada, os serviços vendidos. O ponto fraco é a experiência de uso, que o Ruben testou a 03/10.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Trabalho de julho a setembro (Miguel e Rafa). O funil sequencial e a reavaliação das leads quando o funil muda entraram a 18 e 22/09.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Agendamento integrado até 30/09 (pedidos #15 a #21). A escolha do comercial usa distância e tempo de viagem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Orçamentos e stock: sobretudo o Rafa. Contratos e portal: Miguel. A fuga de dados do portal foi corrigida a 01/10.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Pedido na reunião de 02/10: poucos campos, fechados, opcionais por agora. Exterior e interior ficam na morada (02/10); a área de intervenção fica no diagnóstico da necessidade (03/10). Valores mostrados são exemplos.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 produção desde 03/10. A obra nasce do contrato com os serviços vendidos; o motor usa tempos padrão propostos por nós (aguardam validação da equipa de obra) e aprende com os tempos reais.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Módulo de Obras publicado a 01/10; atrasos, alertas ao supervisor e plano original no Gantt a 02/10. Para a demo faltam dados de exemplo na Mudelar (tarefas validadas e extras).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Segurança e RGPD: Miguel, junho e julho. Stock, compras e venda direta: Rafa, agosto e setembro (fora do âmbito das Operações, mas no CRM). App DUC: Ricardo Paiágua, em olyvia-ai.com/duc-app.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Ideia da reunião de 02/10: dados bem parametrizados são um ativo (a analogia do Pokémon Go). O motor de aprendizagem já existe; o ganho cresce com o uso. A ligação da ficha do local ao preço ainda está por decidir.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Potencial, não em uso: o módulo de ordens de trabalho ao estilo Infraspeak foi publicado a 31/08. O piloto 'um edifício, um técnico, uma semana' está proposto em operacao-app/docs/onde-estamos.md. A BMG ainda não foi envolvida.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Factos: multiempresa com isolamento de dados, limites por plano (15–22/09), teste de 14 dias (julho), Stripe preparado mas não ativo, créditos de IA (21/08). A página de faturação ficou de fora da integração de 30/09. Vender a terceiros é uma decisão estratégica, não está em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ramos do repositório fora do ramo principal, a 03/10. O ramo de Operações de setembro não está confirmado como abandonado. A pessoa responsável pela faturação não foi identificada no levantamento.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vem da reunião de Operações de 02/10 e da documentação do projeto. Só a demo tem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 fixadas: testes 5–6/10, esta reunião a 06/10, apresentação a 07/10.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e 2 vêm da reunião de Operações de 02/10. 3: ramos por integrar. 4: etapa bloqueante do Orçamento V2. 5: teste do percurso a 03/10. 6: nenhuma frente tem data; o piloto BMG está proposto na documentação de Operações.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Fecho. Retomar as decisões que ficarem em aberto.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CAPA-image-1.jpe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7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594360" y="64190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E6A64"/>
                </a:solidFill>
              </a:rPr>
              <a:t>OLYVIA · PONTO DE SITUAÇÃO · 06/10/2026</a:t>
            </a:r>
            <a:endParaRPr lang="en-US" sz="900" dirty="0"/>
          </a:p>
        </p:txBody>
      </p:sp>
      <p:pic>
        <p:nvPicPr>
          <p:cNvPr id="4" name="Image 0" descr="C:\Users\gdial\AppData\Local\Temp\claude\D--Olyvia-Olyvia-crm\b32b3cf7-d878-4d75-a914-1e326bfc0c92\scratchpad\deck/assets/bmlar-group-horizontal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28655" y="6345936"/>
            <a:ext cx="868680" cy="30175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dial\AppData\Local\Temp\claude\D--Olyvia-Olyvia-crm\b32b3cf7-d878-4d75-a914-1e326bfc0c92\scratchpad\deck/assets/azulej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651760"/>
            <a:ext cx="53949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434840"/>
            <a:ext cx="51206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dirty="0">
                <a:solidFill>
                  <a:srgbClr val="A8A39A"/>
                </a:solidFill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apa-bmlar" descr="C:\Users\gdial\AppData\Local\Temp\claude\D--Olyvia-Olyvia-crm\b32b3cf7-d878-4d75-a914-1e326bfc0c92\scratchpad\deck/assets/bmlar-group-horizontal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2194560" cy="768096"/>
          </a:xfrm>
          <a:prstGeom prst="rect">
            <a:avLst/>
          </a:prstGeom>
        </p:spPr>
      </p:pic>
      <p:sp>
        <p:nvSpPr>
          <p:cNvPr id="3" name="texto-1"/>
          <p:cNvSpPr txBox="1"/>
          <p:nvPr/>
        </p:nvSpPr>
        <p:spPr>
          <a:xfrm>
            <a:off x="594360" y="2148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81CEBA"/>
                </a:solidFill>
              </a:rPr>
              <a:t>REUNIÃO DE ADMINISTRAÇÃO  ·  06 OUT 2026</a:t>
            </a:r>
            <a:endParaRPr lang="en-US" sz="1200" dirty="0"/>
          </a:p>
        </p:txBody>
      </p:sp>
      <p:sp>
        <p:nvSpPr>
          <p:cNvPr id="4" name="texto-2"/>
          <p:cNvSpPr txBox="1"/>
          <p:nvPr/>
        </p:nvSpPr>
        <p:spPr>
          <a:xfrm>
            <a:off x="594360" y="2514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Olyvia</a:t>
            </a:r>
            <a:endParaRPr lang="en-US" sz="8000" dirty="0"/>
          </a:p>
        </p:txBody>
      </p:sp>
      <p:sp>
        <p:nvSpPr>
          <p:cNvPr id="5" name="texto-3"/>
          <p:cNvSpPr txBox="1"/>
          <p:nvPr/>
        </p:nvSpPr>
        <p:spPr>
          <a:xfrm>
            <a:off x="594360" y="37947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F0E8"/>
                </a:solidFill>
              </a:rPr>
              <a:t>A plataforma que liga o grupo, da primeira chamada à manutenção da casa</a:t>
            </a:r>
            <a:endParaRPr lang="en-US" sz="2200" dirty="0"/>
          </a:p>
        </p:txBody>
      </p:sp>
      <p:sp>
        <p:nvSpPr>
          <p:cNvPr id="6" name="linha-4"/>
          <p:cNvSpPr/>
          <p:nvPr/>
        </p:nvSpPr>
        <p:spPr>
          <a:xfrm>
            <a:off x="594360" y="5074920"/>
            <a:ext cx="4754880" cy="0"/>
          </a:xfrm>
          <a:prstGeom prst="line">
            <a:avLst/>
          </a:prstGeom>
          <a:noFill/>
          <a:ln w="9525">
            <a:solidFill>
              <a:srgbClr val="5A5A5A"/>
            </a:solidFill>
            <a:prstDash val="solid"/>
          </a:ln>
        </p:spPr>
      </p:sp>
      <p:sp>
        <p:nvSpPr>
          <p:cNvPr id="7" name="texto-5"/>
          <p:cNvSpPr txBox="1"/>
          <p:nvPr/>
        </p:nvSpPr>
        <p:spPr>
          <a:xfrm>
            <a:off x="594360" y="5212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Ponto de situação  ·  o que está feito  ·  o potencial  ·  decisões</a:t>
            </a:r>
            <a:endParaRPr lang="en-US" sz="1300" dirty="0"/>
          </a:p>
        </p:txBody>
      </p:sp>
      <p:sp>
        <p:nvSpPr>
          <p:cNvPr id="8" name="rret-6"/>
          <p:cNvSpPr/>
          <p:nvPr/>
        </p:nvSpPr>
        <p:spPr>
          <a:xfrm>
            <a:off x="9219895" y="4892040"/>
            <a:ext cx="23774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9" name="capa-olyvia" descr="C:\Users\gdial\AppData\Local\Temp\claude\D--Olyvia-Olyvia-crm\b32b3cf7-d878-4d75-a914-1e326bfc0c92\scratchpad\deck/assets/olyvia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495" y="5020056"/>
            <a:ext cx="192024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7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AGENDA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que vamos ver</a:t>
            </a:r>
            <a:endParaRPr lang="en-US" sz="3000" dirty="0"/>
          </a:p>
        </p:txBody>
      </p:sp>
      <p:sp>
        <p:nvSpPr>
          <p:cNvPr id="4" name="texto-8"/>
          <p:cNvSpPr txBox="1"/>
          <p:nvPr/>
        </p:nvSpPr>
        <p:spPr>
          <a:xfrm>
            <a:off x="594360" y="169164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A4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3600" dirty="0"/>
          </a:p>
        </p:txBody>
      </p:sp>
      <p:sp>
        <p:nvSpPr>
          <p:cNvPr id="5" name="texto-9"/>
          <p:cNvSpPr txBox="1"/>
          <p:nvPr/>
        </p:nvSpPr>
        <p:spPr>
          <a:xfrm>
            <a:off x="1783080" y="170992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Porquê a Olyvia</a:t>
            </a:r>
            <a:endParaRPr lang="en-US" sz="2000" dirty="0"/>
          </a:p>
        </p:txBody>
      </p:sp>
      <p:sp>
        <p:nvSpPr>
          <p:cNvPr id="6" name="texto-10"/>
          <p:cNvSpPr txBox="1"/>
          <p:nvPr/>
        </p:nvSpPr>
        <p:spPr>
          <a:xfrm>
            <a:off x="1783080" y="207568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O problema que resolve e a visão para o grupo</a:t>
            </a:r>
            <a:endParaRPr lang="en-US" sz="1300" dirty="0"/>
          </a:p>
        </p:txBody>
      </p:sp>
      <p:sp>
        <p:nvSpPr>
          <p:cNvPr id="7" name="linha-11"/>
          <p:cNvSpPr/>
          <p:nvPr/>
        </p:nvSpPr>
        <p:spPr>
          <a:xfrm>
            <a:off x="1783080" y="2478024"/>
            <a:ext cx="5943600" cy="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8" name="texto-12"/>
          <p:cNvSpPr txBox="1"/>
          <p:nvPr/>
        </p:nvSpPr>
        <p:spPr>
          <a:xfrm>
            <a:off x="594360" y="2560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A4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3600" dirty="0"/>
          </a:p>
        </p:txBody>
      </p:sp>
      <p:sp>
        <p:nvSpPr>
          <p:cNvPr id="9" name="texto-13"/>
          <p:cNvSpPr txBox="1"/>
          <p:nvPr/>
        </p:nvSpPr>
        <p:spPr>
          <a:xfrm>
            <a:off x="1783080" y="257860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que já funciona</a:t>
            </a:r>
            <a:endParaRPr lang="en-US" sz="2000" dirty="0"/>
          </a:p>
        </p:txBody>
      </p:sp>
      <p:sp>
        <p:nvSpPr>
          <p:cNvPr id="10" name="texto-14"/>
          <p:cNvSpPr txBox="1"/>
          <p:nvPr/>
        </p:nvSpPr>
        <p:spPr>
          <a:xfrm>
            <a:off x="1783080" y="29443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Da lead à obra, módulo a módulo</a:t>
            </a:r>
            <a:endParaRPr lang="en-US" sz="1300" dirty="0"/>
          </a:p>
        </p:txBody>
      </p:sp>
      <p:sp>
        <p:nvSpPr>
          <p:cNvPr id="11" name="linha-15"/>
          <p:cNvSpPr/>
          <p:nvPr/>
        </p:nvSpPr>
        <p:spPr>
          <a:xfrm>
            <a:off x="1783080" y="3346704"/>
            <a:ext cx="5943600" cy="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2" name="texto-16"/>
          <p:cNvSpPr txBox="1"/>
          <p:nvPr/>
        </p:nvSpPr>
        <p:spPr>
          <a:xfrm>
            <a:off x="594360" y="34290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3600" dirty="0"/>
          </a:p>
        </p:txBody>
      </p:sp>
      <p:sp>
        <p:nvSpPr>
          <p:cNvPr id="13" name="texto-17"/>
          <p:cNvSpPr txBox="1"/>
          <p:nvPr/>
        </p:nvSpPr>
        <p:spPr>
          <a:xfrm>
            <a:off x="1783080" y="34472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potencial</a:t>
            </a:r>
            <a:endParaRPr lang="en-US" sz="2000" dirty="0"/>
          </a:p>
        </p:txBody>
      </p:sp>
      <p:sp>
        <p:nvSpPr>
          <p:cNvPr id="14" name="texto-18"/>
          <p:cNvSpPr txBox="1"/>
          <p:nvPr/>
        </p:nvSpPr>
        <p:spPr>
          <a:xfrm>
            <a:off x="1783080" y="3813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Dados próprios, manutenção BMG, produto para o mercado</a:t>
            </a:r>
            <a:endParaRPr lang="en-US" sz="1300" dirty="0"/>
          </a:p>
        </p:txBody>
      </p:sp>
      <p:sp>
        <p:nvSpPr>
          <p:cNvPr id="15" name="linha-19"/>
          <p:cNvSpPr/>
          <p:nvPr/>
        </p:nvSpPr>
        <p:spPr>
          <a:xfrm>
            <a:off x="1783080" y="4215384"/>
            <a:ext cx="5943600" cy="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16" name="texto-20"/>
          <p:cNvSpPr txBox="1"/>
          <p:nvPr/>
        </p:nvSpPr>
        <p:spPr>
          <a:xfrm>
            <a:off x="594360" y="4297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A4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3600" dirty="0"/>
          </a:p>
        </p:txBody>
      </p:sp>
      <p:sp>
        <p:nvSpPr>
          <p:cNvPr id="17" name="texto-21"/>
          <p:cNvSpPr txBox="1"/>
          <p:nvPr/>
        </p:nvSpPr>
        <p:spPr>
          <a:xfrm>
            <a:off x="1783080" y="43159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Onde estamos</a:t>
            </a:r>
            <a:endParaRPr lang="en-US" sz="2000" dirty="0"/>
          </a:p>
        </p:txBody>
      </p:sp>
      <p:sp>
        <p:nvSpPr>
          <p:cNvPr id="18" name="texto-22"/>
          <p:cNvSpPr txBox="1"/>
          <p:nvPr/>
        </p:nvSpPr>
        <p:spPr>
          <a:xfrm>
            <a:off x="1783080" y="46817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Trabalho em curso, o que falta e calendário</a:t>
            </a:r>
            <a:endParaRPr lang="en-US" sz="1300" dirty="0"/>
          </a:p>
        </p:txBody>
      </p:sp>
      <p:sp>
        <p:nvSpPr>
          <p:cNvPr id="19" name="linha-23"/>
          <p:cNvSpPr/>
          <p:nvPr/>
        </p:nvSpPr>
        <p:spPr>
          <a:xfrm>
            <a:off x="1783080" y="5084064"/>
            <a:ext cx="5943600" cy="0"/>
          </a:xfrm>
          <a:prstGeom prst="line">
            <a:avLst/>
          </a:prstGeom>
          <a:noFill/>
          <a:ln w="9525">
            <a:solidFill>
              <a:srgbClr val="2F2F2F"/>
            </a:solidFill>
            <a:prstDash val="solid"/>
          </a:ln>
        </p:spPr>
      </p:sp>
      <p:sp>
        <p:nvSpPr>
          <p:cNvPr id="20" name="texto-24"/>
          <p:cNvSpPr txBox="1"/>
          <p:nvPr/>
        </p:nvSpPr>
        <p:spPr>
          <a:xfrm>
            <a:off x="594360" y="5166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4A4A4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3600" dirty="0"/>
          </a:p>
        </p:txBody>
      </p:sp>
      <p:sp>
        <p:nvSpPr>
          <p:cNvPr id="21" name="texto-25"/>
          <p:cNvSpPr txBox="1"/>
          <p:nvPr/>
        </p:nvSpPr>
        <p:spPr>
          <a:xfrm>
            <a:off x="1783080" y="51846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Decisões</a:t>
            </a:r>
            <a:endParaRPr lang="en-US" sz="2000" dirty="0"/>
          </a:p>
        </p:txBody>
      </p:sp>
      <p:sp>
        <p:nvSpPr>
          <p:cNvPr id="22" name="texto-26"/>
          <p:cNvSpPr txBox="1"/>
          <p:nvPr/>
        </p:nvSpPr>
        <p:spPr>
          <a:xfrm>
            <a:off x="1783080" y="555040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Seis pontos para desbloquear a próxima fase</a:t>
            </a:r>
            <a:endParaRPr lang="en-US" sz="1300" dirty="0"/>
          </a:p>
        </p:txBody>
      </p:sp>
      <p:pic>
        <p:nvPicPr>
          <p:cNvPr id="23" name="agenda-azulejo" descr="C:\Users\gdial\AppData\Local\Temp\claude\D--Olyvia-Olyvia-crm\b32b3cf7-d878-4d75-a914-1e326bfc0c92\scratchpad\deck/assets/azulej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38160" y="1600200"/>
            <a:ext cx="3456432" cy="4343400"/>
          </a:xfrm>
          <a:prstGeom prst="rect">
            <a:avLst/>
          </a:prstGeom>
        </p:spPr>
      </p:pic>
      <p:pic>
        <p:nvPicPr>
          <p:cNvPr id="24" name="agenda-simbolo" descr="C:\Users\gdial\AppData\Local\Temp\claude\D--Olyvia-Olyvia-crm\b32b3cf7-d878-4d75-a914-1e326bfc0c92\scratchpad\deck/assets/simbolo-azulejo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0576" y="3081528"/>
            <a:ext cx="1371600" cy="13716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27"/>
          <p:cNvSpPr txBox="1"/>
          <p:nvPr/>
        </p:nvSpPr>
        <p:spPr>
          <a:xfrm>
            <a:off x="59436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6517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Porquê a Olyvia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4348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8A39A"/>
                </a:solidFill>
              </a:rPr>
              <a:t>Hoje a informação de um cliente vive em cinco sítios diferentes. A Olyvia junta-a num só.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28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O PROBLEMA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 ferramentas soltas a um só sistema</a:t>
            </a:r>
            <a:endParaRPr lang="en-US" sz="3000" dirty="0"/>
          </a:p>
        </p:txBody>
      </p:sp>
      <p:sp>
        <p:nvSpPr>
          <p:cNvPr id="4" name="cartao-29"/>
          <p:cNvSpPr/>
          <p:nvPr/>
        </p:nvSpPr>
        <p:spPr>
          <a:xfrm>
            <a:off x="594360" y="1691640"/>
            <a:ext cx="5257800" cy="4343400"/>
          </a:xfrm>
          <a:prstGeom prst="roundRect">
            <a:avLst>
              <a:gd name="adj" fmla="val 2105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5" name="texto-30"/>
          <p:cNvSpPr txBox="1"/>
          <p:nvPr/>
        </p:nvSpPr>
        <p:spPr>
          <a:xfrm>
            <a:off x="9601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4F70"/>
                </a:solidFill>
              </a:rPr>
              <a:t>HOJE</a:t>
            </a:r>
            <a:endParaRPr lang="en-US" sz="1100" dirty="0"/>
          </a:p>
        </p:txBody>
      </p:sp>
      <p:pic>
        <p:nvPicPr>
          <p:cNvPr id="6" name="icone-3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414016"/>
            <a:ext cx="329184" cy="329184"/>
          </a:xfrm>
          <a:prstGeom prst="rect">
            <a:avLst/>
          </a:prstGeom>
        </p:spPr>
      </p:pic>
      <p:sp>
        <p:nvSpPr>
          <p:cNvPr id="7" name="texto-32"/>
          <p:cNvSpPr txBox="1"/>
          <p:nvPr/>
        </p:nvSpPr>
        <p:spPr>
          <a:xfrm>
            <a:off x="1508760" y="23774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39A"/>
                </a:solidFill>
              </a:rPr>
              <a:t>Manuais de obra em Word e tempos em Excel</a:t>
            </a:r>
            <a:endParaRPr lang="en-US" sz="1500" dirty="0"/>
          </a:p>
        </p:txBody>
      </p:sp>
      <p:pic>
        <p:nvPicPr>
          <p:cNvPr id="8" name="icone-3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3099816"/>
            <a:ext cx="329184" cy="329184"/>
          </a:xfrm>
          <a:prstGeom prst="rect">
            <a:avLst/>
          </a:prstGeom>
        </p:spPr>
      </p:pic>
      <p:sp>
        <p:nvSpPr>
          <p:cNvPr id="9" name="texto-34"/>
          <p:cNvSpPr txBox="1"/>
          <p:nvPr/>
        </p:nvSpPr>
        <p:spPr>
          <a:xfrm>
            <a:off x="1508760" y="30632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39A"/>
                </a:solidFill>
              </a:rPr>
              <a:t>Marcações e confirmações por telefone e mensagens</a:t>
            </a:r>
            <a:endParaRPr lang="en-US" sz="1500" dirty="0"/>
          </a:p>
        </p:txBody>
      </p:sp>
      <p:pic>
        <p:nvPicPr>
          <p:cNvPr id="10" name="icone-3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785616"/>
            <a:ext cx="329184" cy="329184"/>
          </a:xfrm>
          <a:prstGeom prst="rect">
            <a:avLst/>
          </a:prstGeom>
        </p:spPr>
      </p:pic>
      <p:sp>
        <p:nvSpPr>
          <p:cNvPr id="11" name="texto-36"/>
          <p:cNvSpPr txBox="1"/>
          <p:nvPr/>
        </p:nvSpPr>
        <p:spPr>
          <a:xfrm>
            <a:off x="1508760" y="37490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39A"/>
                </a:solidFill>
              </a:rPr>
              <a:t>Ordens de trabalho noutra ferramenta (Infraspeak)</a:t>
            </a:r>
            <a:endParaRPr lang="en-US" sz="1500" dirty="0"/>
          </a:p>
        </p:txBody>
      </p:sp>
      <p:pic>
        <p:nvPicPr>
          <p:cNvPr id="12" name="icone-3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471416"/>
            <a:ext cx="329184" cy="329184"/>
          </a:xfrm>
          <a:prstGeom prst="rect">
            <a:avLst/>
          </a:prstGeom>
        </p:spPr>
      </p:pic>
      <p:sp>
        <p:nvSpPr>
          <p:cNvPr id="13" name="texto-38"/>
          <p:cNvSpPr txBox="1"/>
          <p:nvPr/>
        </p:nvSpPr>
        <p:spPr>
          <a:xfrm>
            <a:off x="1508760" y="44348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39A"/>
                </a:solidFill>
              </a:rPr>
              <a:t>Levantamento da casa em papel ou de memória</a:t>
            </a:r>
            <a:endParaRPr lang="en-US" sz="1500" dirty="0"/>
          </a:p>
        </p:txBody>
      </p:sp>
      <p:pic>
        <p:nvPicPr>
          <p:cNvPr id="14" name="icone-39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5157216"/>
            <a:ext cx="329184" cy="329184"/>
          </a:xfrm>
          <a:prstGeom prst="rect">
            <a:avLst/>
          </a:prstGeom>
        </p:spPr>
      </p:pic>
      <p:sp>
        <p:nvSpPr>
          <p:cNvPr id="15" name="texto-40"/>
          <p:cNvSpPr txBox="1"/>
          <p:nvPr/>
        </p:nvSpPr>
        <p:spPr>
          <a:xfrm>
            <a:off x="1508760" y="512064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A39A"/>
                </a:solidFill>
              </a:rPr>
              <a:t>Ninguém sabe quanto tempo uma obra demora de facto</a:t>
            </a:r>
            <a:endParaRPr lang="en-US" sz="1500" dirty="0"/>
          </a:p>
        </p:txBody>
      </p:sp>
      <p:sp>
        <p:nvSpPr>
          <p:cNvPr id="16" name="seta-41"/>
          <p:cNvSpPr/>
          <p:nvPr/>
        </p:nvSpPr>
        <p:spPr>
          <a:xfrm>
            <a:off x="6035040" y="3858768"/>
            <a:ext cx="548640" cy="0"/>
          </a:xfrm>
          <a:prstGeom prst="line">
            <a:avLst/>
          </a:prstGeom>
          <a:noFill/>
          <a:ln w="31750">
            <a:solidFill>
              <a:srgbClr val="81CEBA"/>
            </a:solidFill>
            <a:prstDash val="solid"/>
            <a:tailEnd type="triangle"/>
          </a:ln>
        </p:spPr>
      </p:sp>
      <p:sp>
        <p:nvSpPr>
          <p:cNvPr id="17" name="cartao-42"/>
          <p:cNvSpPr/>
          <p:nvPr/>
        </p:nvSpPr>
        <p:spPr>
          <a:xfrm>
            <a:off x="6766560" y="1691640"/>
            <a:ext cx="4830775" cy="4343400"/>
          </a:xfrm>
          <a:prstGeom prst="roundRect">
            <a:avLst>
              <a:gd name="adj" fmla="val 2105"/>
            </a:avLst>
          </a:prstGeom>
          <a:solidFill>
            <a:srgbClr val="13241F"/>
          </a:solidFill>
          <a:ln w="9525">
            <a:solidFill>
              <a:srgbClr val="1F3B33"/>
            </a:solidFill>
            <a:prstDash val="solid"/>
          </a:ln>
        </p:spPr>
      </p:sp>
      <p:sp>
        <p:nvSpPr>
          <p:cNvPr id="18" name="texto-43"/>
          <p:cNvSpPr txBox="1"/>
          <p:nvPr/>
        </p:nvSpPr>
        <p:spPr>
          <a:xfrm>
            <a:off x="7132320" y="1920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COM A OLYVIA</a:t>
            </a:r>
            <a:endParaRPr lang="en-US" sz="1100" dirty="0"/>
          </a:p>
        </p:txBody>
      </p:sp>
      <p:pic>
        <p:nvPicPr>
          <p:cNvPr id="19" name="icone-4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2414016"/>
            <a:ext cx="329184" cy="329184"/>
          </a:xfrm>
          <a:prstGeom prst="rect">
            <a:avLst/>
          </a:prstGeom>
        </p:spPr>
      </p:pic>
      <p:sp>
        <p:nvSpPr>
          <p:cNvPr id="20" name="texto-45"/>
          <p:cNvSpPr txBox="1"/>
          <p:nvPr/>
        </p:nvSpPr>
        <p:spPr>
          <a:xfrm>
            <a:off x="7680960" y="2377440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Um percurso único: lead, visita, orçamento, contrato, obra</a:t>
            </a:r>
            <a:endParaRPr lang="en-US" sz="1500" dirty="0"/>
          </a:p>
        </p:txBody>
      </p:sp>
      <p:pic>
        <p:nvPicPr>
          <p:cNvPr id="21" name="icone-4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0" y="3099816"/>
            <a:ext cx="329184" cy="329184"/>
          </a:xfrm>
          <a:prstGeom prst="rect">
            <a:avLst/>
          </a:prstGeom>
        </p:spPr>
      </p:pic>
      <p:sp>
        <p:nvSpPr>
          <p:cNvPr id="22" name="texto-47"/>
          <p:cNvSpPr txBox="1"/>
          <p:nvPr/>
        </p:nvSpPr>
        <p:spPr>
          <a:xfrm>
            <a:off x="7680960" y="3063240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O cliente marca a visita e confirma por SMS</a:t>
            </a:r>
            <a:endParaRPr lang="en-US" sz="1500" dirty="0"/>
          </a:p>
        </p:txBody>
      </p:sp>
      <p:pic>
        <p:nvPicPr>
          <p:cNvPr id="23" name="icone-4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3785616"/>
            <a:ext cx="329184" cy="329184"/>
          </a:xfrm>
          <a:prstGeom prst="rect">
            <a:avLst/>
          </a:prstGeom>
        </p:spPr>
      </p:pic>
      <p:sp>
        <p:nvSpPr>
          <p:cNvPr id="24" name="texto-49"/>
          <p:cNvSpPr txBox="1"/>
          <p:nvPr/>
        </p:nvSpPr>
        <p:spPr>
          <a:xfrm>
            <a:off x="7680960" y="3749040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A obra é planeada sozinha a partir do contrato</a:t>
            </a:r>
            <a:endParaRPr lang="en-US" sz="1500" dirty="0"/>
          </a:p>
        </p:txBody>
      </p:sp>
      <p:pic>
        <p:nvPicPr>
          <p:cNvPr id="25" name="icone-50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0" y="4471416"/>
            <a:ext cx="329184" cy="329184"/>
          </a:xfrm>
          <a:prstGeom prst="rect">
            <a:avLst/>
          </a:prstGeom>
        </p:spPr>
      </p:pic>
      <p:sp>
        <p:nvSpPr>
          <p:cNvPr id="26" name="texto-51"/>
          <p:cNvSpPr txBox="1"/>
          <p:nvPr/>
        </p:nvSpPr>
        <p:spPr>
          <a:xfrm>
            <a:off x="7680960" y="4434840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Ficha do local com campos fechados, pronta a usar</a:t>
            </a:r>
            <a:endParaRPr lang="en-US" sz="1500" dirty="0"/>
          </a:p>
        </p:txBody>
      </p:sp>
      <p:pic>
        <p:nvPicPr>
          <p:cNvPr id="27" name="icone-52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0" y="5157216"/>
            <a:ext cx="329184" cy="329184"/>
          </a:xfrm>
          <a:prstGeom prst="rect">
            <a:avLst/>
          </a:prstGeom>
        </p:spPr>
      </p:pic>
      <p:sp>
        <p:nvSpPr>
          <p:cNvPr id="28" name="texto-53"/>
          <p:cNvSpPr txBox="1"/>
          <p:nvPr/>
        </p:nvSpPr>
        <p:spPr>
          <a:xfrm>
            <a:off x="7680960" y="5120640"/>
            <a:ext cx="36420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Previsto contra real em cada tarefa: o sistema aprende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54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A VISÃO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Uma plataforma para o grupo inteiro</a:t>
            </a:r>
            <a:endParaRPr lang="en-US" sz="3000" dirty="0"/>
          </a:p>
        </p:txBody>
      </p:sp>
      <p:sp>
        <p:nvSpPr>
          <p:cNvPr id="4" name="ponto-55"/>
          <p:cNvSpPr/>
          <p:nvPr/>
        </p:nvSpPr>
        <p:spPr>
          <a:xfrm>
            <a:off x="5047488" y="2743200"/>
            <a:ext cx="2103120" cy="210312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rret-56"/>
          <p:cNvSpPr/>
          <p:nvPr/>
        </p:nvSpPr>
        <p:spPr>
          <a:xfrm>
            <a:off x="5230368" y="3493008"/>
            <a:ext cx="173736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6" name="visao-olyvia" descr="C:\Users\gdial\AppData\Local\Temp\claude\D--Olyvia-Olyvia-crm\b32b3cf7-d878-4d75-a914-1e326bfc0c92\scratchpad\deck/assets/olyvia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67528" y="3584448"/>
            <a:ext cx="1463040" cy="484632"/>
          </a:xfrm>
          <a:prstGeom prst="rect">
            <a:avLst/>
          </a:prstGeom>
        </p:spPr>
      </p:pic>
      <p:sp>
        <p:nvSpPr>
          <p:cNvPr id="7" name="cartao-57"/>
          <p:cNvSpPr/>
          <p:nvPr/>
        </p:nvSpPr>
        <p:spPr>
          <a:xfrm>
            <a:off x="2304288" y="210312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81818"/>
          </a:solidFill>
          <a:ln w="9525">
            <a:solidFill>
              <a:srgbClr val="81CEBA"/>
            </a:solidFill>
            <a:prstDash val="solid"/>
          </a:ln>
        </p:spPr>
      </p:sp>
      <p:sp>
        <p:nvSpPr>
          <p:cNvPr id="8" name="texto-58"/>
          <p:cNvSpPr txBox="1"/>
          <p:nvPr/>
        </p:nvSpPr>
        <p:spPr>
          <a:xfrm>
            <a:off x="2304288" y="22311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Captar</a:t>
            </a:r>
            <a:endParaRPr lang="en-US" sz="1800" dirty="0"/>
          </a:p>
        </p:txBody>
      </p:sp>
      <p:sp>
        <p:nvSpPr>
          <p:cNvPr id="9" name="texto-59"/>
          <p:cNvSpPr txBox="1"/>
          <p:nvPr/>
        </p:nvSpPr>
        <p:spPr>
          <a:xfrm>
            <a:off x="230428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EBA"/>
                </a:solidFill>
              </a:rPr>
              <a:t>lead e visita</a:t>
            </a:r>
            <a:endParaRPr lang="en-US" sz="1200" dirty="0"/>
          </a:p>
        </p:txBody>
      </p:sp>
      <p:sp>
        <p:nvSpPr>
          <p:cNvPr id="10" name="cartao-60"/>
          <p:cNvSpPr/>
          <p:nvPr/>
        </p:nvSpPr>
        <p:spPr>
          <a:xfrm>
            <a:off x="7607808" y="210312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81818"/>
          </a:solidFill>
          <a:ln w="9525">
            <a:solidFill>
              <a:srgbClr val="81CEBA"/>
            </a:solidFill>
            <a:prstDash val="solid"/>
          </a:ln>
        </p:spPr>
      </p:sp>
      <p:sp>
        <p:nvSpPr>
          <p:cNvPr id="11" name="texto-61"/>
          <p:cNvSpPr txBox="1"/>
          <p:nvPr/>
        </p:nvSpPr>
        <p:spPr>
          <a:xfrm>
            <a:off x="7607808" y="223113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Vender</a:t>
            </a:r>
            <a:endParaRPr lang="en-US" sz="1800" dirty="0"/>
          </a:p>
        </p:txBody>
      </p:sp>
      <p:sp>
        <p:nvSpPr>
          <p:cNvPr id="12" name="texto-62"/>
          <p:cNvSpPr txBox="1"/>
          <p:nvPr/>
        </p:nvSpPr>
        <p:spPr>
          <a:xfrm>
            <a:off x="7607808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EBA"/>
                </a:solidFill>
              </a:rPr>
              <a:t>orçamento e contrato</a:t>
            </a:r>
            <a:endParaRPr lang="en-US" sz="1200" dirty="0"/>
          </a:p>
        </p:txBody>
      </p:sp>
      <p:sp>
        <p:nvSpPr>
          <p:cNvPr id="13" name="cartao-63"/>
          <p:cNvSpPr/>
          <p:nvPr/>
        </p:nvSpPr>
        <p:spPr>
          <a:xfrm>
            <a:off x="7607808" y="45720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81818"/>
          </a:solidFill>
          <a:ln w="9525">
            <a:solidFill>
              <a:srgbClr val="81CEBA"/>
            </a:solidFill>
            <a:prstDash val="solid"/>
          </a:ln>
        </p:spPr>
      </p:sp>
      <p:sp>
        <p:nvSpPr>
          <p:cNvPr id="14" name="texto-64"/>
          <p:cNvSpPr txBox="1"/>
          <p:nvPr/>
        </p:nvSpPr>
        <p:spPr>
          <a:xfrm>
            <a:off x="7607808" y="47000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Transformar</a:t>
            </a:r>
            <a:endParaRPr lang="en-US" sz="1800" dirty="0"/>
          </a:p>
        </p:txBody>
      </p:sp>
      <p:sp>
        <p:nvSpPr>
          <p:cNvPr id="15" name="texto-65"/>
          <p:cNvSpPr txBox="1"/>
          <p:nvPr/>
        </p:nvSpPr>
        <p:spPr>
          <a:xfrm>
            <a:off x="7607808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1CEBA"/>
                </a:solidFill>
              </a:rPr>
              <a:t>obra Mudelar</a:t>
            </a:r>
            <a:endParaRPr lang="en-US" sz="1200" dirty="0"/>
          </a:p>
        </p:txBody>
      </p:sp>
      <p:sp>
        <p:nvSpPr>
          <p:cNvPr id="16" name="cartao-66"/>
          <p:cNvSpPr/>
          <p:nvPr/>
        </p:nvSpPr>
        <p:spPr>
          <a:xfrm>
            <a:off x="2304288" y="4572000"/>
            <a:ext cx="2286000" cy="914400"/>
          </a:xfrm>
          <a:prstGeom prst="roundRect">
            <a:avLst>
              <a:gd name="adj" fmla="val 10000"/>
            </a:avLst>
          </a:prstGeom>
          <a:solidFill>
            <a:srgbClr val="181818"/>
          </a:solidFill>
          <a:ln w="9525">
            <a:solidFill>
              <a:srgbClr val="6F86FF"/>
            </a:solidFill>
            <a:prstDash val="solid"/>
          </a:ln>
        </p:spPr>
      </p:sp>
      <p:sp>
        <p:nvSpPr>
          <p:cNvPr id="17" name="texto-67"/>
          <p:cNvSpPr txBox="1"/>
          <p:nvPr/>
        </p:nvSpPr>
        <p:spPr>
          <a:xfrm>
            <a:off x="2304288" y="47000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Manter</a:t>
            </a:r>
            <a:endParaRPr lang="en-US" sz="1800" dirty="0"/>
          </a:p>
        </p:txBody>
      </p:sp>
      <p:sp>
        <p:nvSpPr>
          <p:cNvPr id="18" name="texto-68"/>
          <p:cNvSpPr txBox="1"/>
          <p:nvPr/>
        </p:nvSpPr>
        <p:spPr>
          <a:xfrm>
            <a:off x="2304288" y="5074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86FF"/>
                </a:solidFill>
              </a:rPr>
              <a:t>manutenção BMG</a:t>
            </a:r>
            <a:endParaRPr lang="en-US" sz="1200" dirty="0"/>
          </a:p>
        </p:txBody>
      </p:sp>
      <p:sp>
        <p:nvSpPr>
          <p:cNvPr id="19" name="seta-69"/>
          <p:cNvSpPr/>
          <p:nvPr/>
        </p:nvSpPr>
        <p:spPr>
          <a:xfrm>
            <a:off x="4681728" y="2560320"/>
            <a:ext cx="2834640" cy="0"/>
          </a:xfrm>
          <a:prstGeom prst="line">
            <a:avLst/>
          </a:prstGeom>
          <a:noFill/>
          <a:ln w="19050">
            <a:solidFill>
              <a:srgbClr val="6E6A64"/>
            </a:solidFill>
            <a:prstDash val="solid"/>
            <a:tailEnd type="triangle"/>
          </a:ln>
        </p:spPr>
      </p:sp>
      <p:sp>
        <p:nvSpPr>
          <p:cNvPr id="20" name="seta-70"/>
          <p:cNvSpPr/>
          <p:nvPr/>
        </p:nvSpPr>
        <p:spPr>
          <a:xfrm>
            <a:off x="8750808" y="3063240"/>
            <a:ext cx="0" cy="1463040"/>
          </a:xfrm>
          <a:prstGeom prst="line">
            <a:avLst/>
          </a:prstGeom>
          <a:noFill/>
          <a:ln w="19050">
            <a:solidFill>
              <a:srgbClr val="6E6A64"/>
            </a:solidFill>
            <a:prstDash val="solid"/>
            <a:tailEnd type="triangle"/>
          </a:ln>
        </p:spPr>
      </p:sp>
      <p:sp>
        <p:nvSpPr>
          <p:cNvPr id="21" name="seta-71"/>
          <p:cNvSpPr/>
          <p:nvPr/>
        </p:nvSpPr>
        <p:spPr>
          <a:xfrm flipH="1">
            <a:off x="4727448" y="5029200"/>
            <a:ext cx="2834640" cy="0"/>
          </a:xfrm>
          <a:prstGeom prst="line">
            <a:avLst/>
          </a:prstGeom>
          <a:noFill/>
          <a:ln w="19050">
            <a:solidFill>
              <a:srgbClr val="6E6A64"/>
            </a:solidFill>
            <a:prstDash val="solid"/>
            <a:tailEnd type="triangle"/>
          </a:ln>
        </p:spPr>
      </p:sp>
      <p:sp>
        <p:nvSpPr>
          <p:cNvPr id="22" name="seta-72"/>
          <p:cNvSpPr/>
          <p:nvPr/>
        </p:nvSpPr>
        <p:spPr>
          <a:xfrm flipV="1">
            <a:off x="3447288" y="3063240"/>
            <a:ext cx="0" cy="1463040"/>
          </a:xfrm>
          <a:prstGeom prst="line">
            <a:avLst/>
          </a:prstGeom>
          <a:noFill/>
          <a:ln w="19050">
            <a:solidFill>
              <a:srgbClr val="6E6A64"/>
            </a:solidFill>
            <a:prstDash val="solid"/>
            <a:tailEnd type="triangle"/>
          </a:ln>
        </p:spPr>
      </p:sp>
      <p:pic>
        <p:nvPicPr>
          <p:cNvPr id="23" name="visao-mudelar" descr="C:\Users\gdial\AppData\Local\Temp\claude\D--Olyvia-Olyvia-crm\b32b3cf7-d878-4d75-a914-1e326bfc0c92\scratchpad\deck/assets/mudelar-horizontal-bran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5559552"/>
            <a:ext cx="1737360" cy="434340"/>
          </a:xfrm>
          <a:prstGeom prst="rect">
            <a:avLst/>
          </a:prstGeom>
        </p:spPr>
      </p:pic>
      <p:pic>
        <p:nvPicPr>
          <p:cNvPr id="24" name="visao-bmg" descr="C:\Users\gdial\AppData\Local\Temp\claude\D--Olyvia-Olyvia-crm\b32b3cf7-d878-4d75-a914-1e326bfc0c92\scratchpad\deck/assets/bmg-services-horizontal-br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5486400"/>
            <a:ext cx="1463040" cy="585216"/>
          </a:xfrm>
          <a:prstGeom prst="rect">
            <a:avLst/>
          </a:prstGeom>
        </p:spPr>
      </p:pic>
      <p:sp>
        <p:nvSpPr>
          <p:cNvPr id="25" name="texto-73"/>
          <p:cNvSpPr txBox="1"/>
          <p:nvPr/>
        </p:nvSpPr>
        <p:spPr>
          <a:xfrm>
            <a:off x="3108960" y="559612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A Mudelar entrega a obra; a BMG mantém a casa. A Olyvia guarda o histórico do cliente, do primeiro contacto à manutenção.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74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EM NÚMEROS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Três meses e meio de desenvolvimento</a:t>
            </a:r>
            <a:endParaRPr lang="en-US" sz="3000" dirty="0"/>
          </a:p>
        </p:txBody>
      </p:sp>
      <p:sp>
        <p:nvSpPr>
          <p:cNvPr id="4" name="texto-75"/>
          <p:cNvSpPr txBox="1"/>
          <p:nvPr/>
        </p:nvSpPr>
        <p:spPr>
          <a:xfrm>
            <a:off x="594360" y="16459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18/06</a:t>
            </a:r>
            <a:endParaRPr lang="en-US" sz="4800" dirty="0"/>
          </a:p>
        </p:txBody>
      </p:sp>
      <p:sp>
        <p:nvSpPr>
          <p:cNvPr id="5" name="texto-76"/>
          <p:cNvSpPr txBox="1"/>
          <p:nvPr/>
        </p:nvSpPr>
        <p:spPr>
          <a:xfrm>
            <a:off x="59436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primeira versão no repositório</a:t>
            </a:r>
            <a:endParaRPr lang="en-US" sz="1300" dirty="0"/>
          </a:p>
        </p:txBody>
      </p:sp>
      <p:sp>
        <p:nvSpPr>
          <p:cNvPr id="6" name="texto-77"/>
          <p:cNvSpPr txBox="1"/>
          <p:nvPr/>
        </p:nvSpPr>
        <p:spPr>
          <a:xfrm>
            <a:off x="3383280" y="16459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1 190</a:t>
            </a:r>
            <a:endParaRPr lang="en-US" sz="4800" dirty="0"/>
          </a:p>
        </p:txBody>
      </p:sp>
      <p:sp>
        <p:nvSpPr>
          <p:cNvPr id="7" name="texto-78"/>
          <p:cNvSpPr txBox="1"/>
          <p:nvPr/>
        </p:nvSpPr>
        <p:spPr>
          <a:xfrm>
            <a:off x="338328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alterações publicadas (aprox.)</a:t>
            </a:r>
            <a:endParaRPr lang="en-US" sz="1300" dirty="0"/>
          </a:p>
        </p:txBody>
      </p:sp>
      <p:sp>
        <p:nvSpPr>
          <p:cNvPr id="8" name="texto-79"/>
          <p:cNvSpPr txBox="1"/>
          <p:nvPr/>
        </p:nvSpPr>
        <p:spPr>
          <a:xfrm>
            <a:off x="6172200" y="16459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714</a:t>
            </a:r>
            <a:endParaRPr lang="en-US" sz="4800" dirty="0"/>
          </a:p>
        </p:txBody>
      </p:sp>
      <p:sp>
        <p:nvSpPr>
          <p:cNvPr id="9" name="texto-80"/>
          <p:cNvSpPr txBox="1"/>
          <p:nvPr/>
        </p:nvSpPr>
        <p:spPr>
          <a:xfrm>
            <a:off x="617220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alterações à base de dados</a:t>
            </a:r>
            <a:endParaRPr lang="en-US" sz="1300" dirty="0"/>
          </a:p>
        </p:txBody>
      </p:sp>
      <p:sp>
        <p:nvSpPr>
          <p:cNvPr id="10" name="texto-81"/>
          <p:cNvSpPr txBox="1"/>
          <p:nvPr/>
        </p:nvSpPr>
        <p:spPr>
          <a:xfrm>
            <a:off x="8961120" y="16459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4800" dirty="0"/>
          </a:p>
        </p:txBody>
      </p:sp>
      <p:sp>
        <p:nvSpPr>
          <p:cNvPr id="11" name="texto-82"/>
          <p:cNvSpPr txBox="1"/>
          <p:nvPr/>
        </p:nvSpPr>
        <p:spPr>
          <a:xfrm>
            <a:off x="8961120" y="2514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pessoas a desenvolver</a:t>
            </a:r>
            <a:endParaRPr lang="en-US" sz="1300" dirty="0"/>
          </a:p>
        </p:txBody>
      </p:sp>
      <p:sp>
        <p:nvSpPr>
          <p:cNvPr id="12" name="cartao-83"/>
          <p:cNvSpPr/>
          <p:nvPr/>
        </p:nvSpPr>
        <p:spPr>
          <a:xfrm>
            <a:off x="594360" y="3108960"/>
            <a:ext cx="6949440" cy="2971800"/>
          </a:xfrm>
          <a:prstGeom prst="roundRect">
            <a:avLst>
              <a:gd name="adj" fmla="val 307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graphicFrame>
        <p:nvGraphicFramePr>
          <p:cNvPr id="13" name="Chart 0" descr=""/>
          <p:cNvGraphicFramePr/>
          <p:nvPr/>
        </p:nvGraphicFramePr>
        <p:xfrm>
          <a:off x="777240" y="3200400"/>
          <a:ext cx="658368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4" name="texto-84"/>
          <p:cNvSpPr txBox="1"/>
          <p:nvPr/>
        </p:nvSpPr>
        <p:spPr>
          <a:xfrm>
            <a:off x="822960" y="574243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4"/>
                </a:solidFill>
              </a:rPr>
              <a:t>Inclui cópias do mesmo trabalho entre ramos.</a:t>
            </a:r>
            <a:endParaRPr lang="en-US" sz="1000" dirty="0"/>
          </a:p>
        </p:txBody>
      </p:sp>
      <p:sp>
        <p:nvSpPr>
          <p:cNvPr id="15" name="cartao-85"/>
          <p:cNvSpPr/>
          <p:nvPr/>
        </p:nvSpPr>
        <p:spPr>
          <a:xfrm>
            <a:off x="7772400" y="3108960"/>
            <a:ext cx="3824935" cy="2971800"/>
          </a:xfrm>
          <a:prstGeom prst="roundRect">
            <a:avLst>
              <a:gd name="adj" fmla="val 307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6" name="texto-86"/>
          <p:cNvSpPr txBox="1"/>
          <p:nvPr/>
        </p:nvSpPr>
        <p:spPr>
          <a:xfrm>
            <a:off x="80924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8A39A"/>
                </a:solidFill>
              </a:rPr>
              <a:t>QUEM DESENVOLVE</a:t>
            </a:r>
            <a:endParaRPr lang="en-US" sz="1100" dirty="0"/>
          </a:p>
        </p:txBody>
      </p:sp>
      <p:sp>
        <p:nvSpPr>
          <p:cNvPr id="17" name="ponto-87"/>
          <p:cNvSpPr/>
          <p:nvPr/>
        </p:nvSpPr>
        <p:spPr>
          <a:xfrm>
            <a:off x="8092440" y="3840480"/>
            <a:ext cx="146304" cy="146304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sp>
        <p:nvSpPr>
          <p:cNvPr id="18" name="texto-88"/>
          <p:cNvSpPr txBox="1"/>
          <p:nvPr/>
        </p:nvSpPr>
        <p:spPr>
          <a:xfrm>
            <a:off x="8366760" y="37490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</a:rPr>
              <a:t>Miguel Carvalho</a:t>
            </a:r>
            <a:endParaRPr lang="en-US" sz="1400" dirty="0"/>
          </a:p>
        </p:txBody>
      </p:sp>
      <p:sp>
        <p:nvSpPr>
          <p:cNvPr id="19" name="texto-89"/>
          <p:cNvSpPr txBox="1"/>
          <p:nvPr/>
        </p:nvSpPr>
        <p:spPr>
          <a:xfrm>
            <a:off x="8366760" y="399592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base, segurança, leads, agenda, RH</a:t>
            </a:r>
            <a:endParaRPr lang="en-US" sz="1200" dirty="0"/>
          </a:p>
        </p:txBody>
      </p:sp>
      <p:sp>
        <p:nvSpPr>
          <p:cNvPr id="20" name="ponto-90"/>
          <p:cNvSpPr/>
          <p:nvPr/>
        </p:nvSpPr>
        <p:spPr>
          <a:xfrm>
            <a:off x="8092440" y="4389120"/>
            <a:ext cx="146304" cy="146304"/>
          </a:xfrm>
          <a:prstGeom prst="ellipse">
            <a:avLst/>
          </a:prstGeom>
          <a:solidFill>
            <a:srgbClr val="6F86FF"/>
          </a:solidFill>
          <a:ln w="12700">
            <a:solidFill>
              <a:srgbClr val="6F86FF"/>
            </a:solidFill>
            <a:prstDash val="solid"/>
          </a:ln>
        </p:spPr>
      </p:sp>
      <p:sp>
        <p:nvSpPr>
          <p:cNvPr id="21" name="texto-91"/>
          <p:cNvSpPr txBox="1"/>
          <p:nvPr/>
        </p:nvSpPr>
        <p:spPr>
          <a:xfrm>
            <a:off x="8366760" y="429768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</a:rPr>
              <a:t>Rafael Gromicho</a:t>
            </a:r>
            <a:endParaRPr lang="en-US" sz="1400" dirty="0"/>
          </a:p>
        </p:txBody>
      </p:sp>
      <p:sp>
        <p:nvSpPr>
          <p:cNvPr id="22" name="texto-92"/>
          <p:cNvSpPr txBox="1"/>
          <p:nvPr/>
        </p:nvSpPr>
        <p:spPr>
          <a:xfrm>
            <a:off x="8366760" y="454456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orçamentos, stock, compras, venda direta</a:t>
            </a:r>
            <a:endParaRPr lang="en-US" sz="1200" dirty="0"/>
          </a:p>
        </p:txBody>
      </p:sp>
      <p:sp>
        <p:nvSpPr>
          <p:cNvPr id="23" name="ponto-93"/>
          <p:cNvSpPr/>
          <p:nvPr/>
        </p:nvSpPr>
        <p:spPr>
          <a:xfrm>
            <a:off x="8092440" y="4937760"/>
            <a:ext cx="146304" cy="146304"/>
          </a:xfrm>
          <a:prstGeom prst="ellipse">
            <a:avLst/>
          </a:prstGeom>
          <a:solidFill>
            <a:srgbClr val="E84F70"/>
          </a:solidFill>
          <a:ln w="12700">
            <a:solidFill>
              <a:srgbClr val="E84F70"/>
            </a:solidFill>
            <a:prstDash val="solid"/>
          </a:ln>
        </p:spPr>
      </p:sp>
      <p:sp>
        <p:nvSpPr>
          <p:cNvPr id="24" name="texto-94"/>
          <p:cNvSpPr txBox="1"/>
          <p:nvPr/>
        </p:nvSpPr>
        <p:spPr>
          <a:xfrm>
            <a:off x="8366760" y="4846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</a:rPr>
              <a:t>Ruben Carvalho</a:t>
            </a:r>
            <a:endParaRPr lang="en-US" sz="1400" dirty="0"/>
          </a:p>
        </p:txBody>
      </p:sp>
      <p:sp>
        <p:nvSpPr>
          <p:cNvPr id="25" name="texto-95"/>
          <p:cNvSpPr txBox="1"/>
          <p:nvPr/>
        </p:nvSpPr>
        <p:spPr>
          <a:xfrm>
            <a:off x="8366760" y="509320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Operações e Obras</a:t>
            </a:r>
            <a:endParaRPr lang="en-US" sz="1200" dirty="0"/>
          </a:p>
        </p:txBody>
      </p:sp>
      <p:sp>
        <p:nvSpPr>
          <p:cNvPr id="26" name="ponto-96"/>
          <p:cNvSpPr/>
          <p:nvPr/>
        </p:nvSpPr>
        <p:spPr>
          <a:xfrm>
            <a:off x="8092440" y="5486400"/>
            <a:ext cx="146304" cy="146304"/>
          </a:xfrm>
          <a:prstGeom prst="ellipse">
            <a:avLst/>
          </a:prstGeom>
          <a:solidFill>
            <a:srgbClr val="A07BF2"/>
          </a:solidFill>
          <a:ln w="12700">
            <a:solidFill>
              <a:srgbClr val="A07BF2"/>
            </a:solidFill>
            <a:prstDash val="solid"/>
          </a:ln>
        </p:spPr>
      </p:sp>
      <p:sp>
        <p:nvSpPr>
          <p:cNvPr id="27" name="texto-97"/>
          <p:cNvSpPr txBox="1"/>
          <p:nvPr/>
        </p:nvSpPr>
        <p:spPr>
          <a:xfrm>
            <a:off x="8366760" y="53949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</a:rPr>
              <a:t>Ricardo Paiágua</a:t>
            </a:r>
            <a:endParaRPr lang="en-US" sz="1400" dirty="0"/>
          </a:p>
        </p:txBody>
      </p:sp>
      <p:sp>
        <p:nvSpPr>
          <p:cNvPr id="28" name="texto-98"/>
          <p:cNvSpPr txBox="1"/>
          <p:nvPr/>
        </p:nvSpPr>
        <p:spPr>
          <a:xfrm>
            <a:off x="8366760" y="564184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App DUC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99"/>
          <p:cNvSpPr txBox="1"/>
          <p:nvPr/>
        </p:nvSpPr>
        <p:spPr>
          <a:xfrm>
            <a:off x="59436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6517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que já funciona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4348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8A39A"/>
                </a:solidFill>
              </a:rPr>
              <a:t>Tudo o que se segue está em produção em www.olyvia-ai.com e a Mudelar já o usa.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00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O PERCURSO DO CLIENTE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Sete passos ligados, sem voltar a escrever nada</a:t>
            </a:r>
            <a:endParaRPr lang="en-US" sz="3000" dirty="0"/>
          </a:p>
        </p:txBody>
      </p:sp>
      <p:sp>
        <p:nvSpPr>
          <p:cNvPr id="4" name="linha-101"/>
          <p:cNvSpPr/>
          <p:nvPr/>
        </p:nvSpPr>
        <p:spPr>
          <a:xfrm>
            <a:off x="1380287" y="2148840"/>
            <a:ext cx="9431122" cy="0"/>
          </a:xfrm>
          <a:prstGeom prst="line">
            <a:avLst/>
          </a:prstGeom>
          <a:noFill/>
          <a:ln w="19050">
            <a:solidFill>
              <a:srgbClr val="67A392"/>
            </a:solidFill>
            <a:prstDash val="solid"/>
          </a:ln>
        </p:spPr>
      </p:sp>
      <p:sp>
        <p:nvSpPr>
          <p:cNvPr id="5" name="ponto-102"/>
          <p:cNvSpPr/>
          <p:nvPr/>
        </p:nvSpPr>
        <p:spPr>
          <a:xfrm>
            <a:off x="996239" y="1764792"/>
            <a:ext cx="768096" cy="768096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6" name="icone-103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263" y="1956816"/>
            <a:ext cx="384048" cy="384048"/>
          </a:xfrm>
          <a:prstGeom prst="rect">
            <a:avLst/>
          </a:prstGeom>
        </p:spPr>
      </p:pic>
      <p:sp>
        <p:nvSpPr>
          <p:cNvPr id="7" name="texto-104"/>
          <p:cNvSpPr txBox="1"/>
          <p:nvPr/>
        </p:nvSpPr>
        <p:spPr>
          <a:xfrm>
            <a:off x="594360" y="2697480"/>
            <a:ext cx="1571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Lead</a:t>
            </a:r>
            <a:endParaRPr lang="en-US" sz="1800" dirty="0"/>
          </a:p>
        </p:txBody>
      </p:sp>
      <p:sp>
        <p:nvSpPr>
          <p:cNvPr id="8" name="cartao-105"/>
          <p:cNvSpPr/>
          <p:nvPr/>
        </p:nvSpPr>
        <p:spPr>
          <a:xfrm>
            <a:off x="667512" y="3200400"/>
            <a:ext cx="1425550" cy="1325880"/>
          </a:xfrm>
          <a:prstGeom prst="roundRect">
            <a:avLst>
              <a:gd name="adj" fmla="val 689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9" name="texto-106"/>
          <p:cNvSpPr txBox="1"/>
          <p:nvPr/>
        </p:nvSpPr>
        <p:spPr>
          <a:xfrm>
            <a:off x="731520" y="3291840"/>
            <a:ext cx="12975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Entra pelo site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Origem detetada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Sem repetidas</a:t>
            </a:r>
            <a:endParaRPr lang="en-US" sz="1200" dirty="0"/>
          </a:p>
        </p:txBody>
      </p:sp>
      <p:sp>
        <p:nvSpPr>
          <p:cNvPr id="10" name="ponto-107"/>
          <p:cNvSpPr/>
          <p:nvPr/>
        </p:nvSpPr>
        <p:spPr>
          <a:xfrm>
            <a:off x="2568092" y="1764792"/>
            <a:ext cx="768096" cy="768096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11" name="icone-10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116" y="1956816"/>
            <a:ext cx="384048" cy="384048"/>
          </a:xfrm>
          <a:prstGeom prst="rect">
            <a:avLst/>
          </a:prstGeom>
        </p:spPr>
      </p:pic>
      <p:sp>
        <p:nvSpPr>
          <p:cNvPr id="12" name="texto-109"/>
          <p:cNvSpPr txBox="1"/>
          <p:nvPr/>
        </p:nvSpPr>
        <p:spPr>
          <a:xfrm>
            <a:off x="2166214" y="2697480"/>
            <a:ext cx="1571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Visita</a:t>
            </a:r>
            <a:endParaRPr lang="en-US" sz="1800" dirty="0"/>
          </a:p>
        </p:txBody>
      </p:sp>
      <p:sp>
        <p:nvSpPr>
          <p:cNvPr id="13" name="cartao-110"/>
          <p:cNvSpPr/>
          <p:nvPr/>
        </p:nvSpPr>
        <p:spPr>
          <a:xfrm>
            <a:off x="2239366" y="3200400"/>
            <a:ext cx="1425550" cy="1325880"/>
          </a:xfrm>
          <a:prstGeom prst="roundRect">
            <a:avLst>
              <a:gd name="adj" fmla="val 689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4" name="texto-111"/>
          <p:cNvSpPr txBox="1"/>
          <p:nvPr/>
        </p:nvSpPr>
        <p:spPr>
          <a:xfrm>
            <a:off x="2303374" y="3291840"/>
            <a:ext cx="12975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Marcada pelo cliente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SMS e lembretes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Comercial mais perto</a:t>
            </a:r>
            <a:endParaRPr lang="en-US" sz="1200" dirty="0"/>
          </a:p>
        </p:txBody>
      </p:sp>
      <p:sp>
        <p:nvSpPr>
          <p:cNvPr id="15" name="ponto-112"/>
          <p:cNvSpPr/>
          <p:nvPr/>
        </p:nvSpPr>
        <p:spPr>
          <a:xfrm>
            <a:off x="4139946" y="1764792"/>
            <a:ext cx="768096" cy="768096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16" name="icone-11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1970" y="1956816"/>
            <a:ext cx="384048" cy="384048"/>
          </a:xfrm>
          <a:prstGeom prst="rect">
            <a:avLst/>
          </a:prstGeom>
        </p:spPr>
      </p:pic>
      <p:sp>
        <p:nvSpPr>
          <p:cNvPr id="17" name="texto-114"/>
          <p:cNvSpPr txBox="1"/>
          <p:nvPr/>
        </p:nvSpPr>
        <p:spPr>
          <a:xfrm>
            <a:off x="3738067" y="2697480"/>
            <a:ext cx="1571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Orçamento</a:t>
            </a:r>
            <a:endParaRPr lang="en-US" sz="1800" dirty="0"/>
          </a:p>
        </p:txBody>
      </p:sp>
      <p:sp>
        <p:nvSpPr>
          <p:cNvPr id="18" name="cartao-115"/>
          <p:cNvSpPr/>
          <p:nvPr/>
        </p:nvSpPr>
        <p:spPr>
          <a:xfrm>
            <a:off x="3811219" y="3200400"/>
            <a:ext cx="1425550" cy="1325880"/>
          </a:xfrm>
          <a:prstGeom prst="roundRect">
            <a:avLst>
              <a:gd name="adj" fmla="val 689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9" name="texto-116"/>
          <p:cNvSpPr txBox="1"/>
          <p:nvPr/>
        </p:nvSpPr>
        <p:spPr>
          <a:xfrm>
            <a:off x="3875227" y="3291840"/>
            <a:ext cx="12975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Catálogo e margens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Ficha do local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Moradas no PDF</a:t>
            </a:r>
            <a:endParaRPr lang="en-US" sz="1200" dirty="0"/>
          </a:p>
        </p:txBody>
      </p:sp>
      <p:sp>
        <p:nvSpPr>
          <p:cNvPr id="20" name="ponto-117"/>
          <p:cNvSpPr/>
          <p:nvPr/>
        </p:nvSpPr>
        <p:spPr>
          <a:xfrm>
            <a:off x="5711800" y="1764792"/>
            <a:ext cx="768096" cy="768096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21" name="icone-1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824" y="1956816"/>
            <a:ext cx="384048" cy="384048"/>
          </a:xfrm>
          <a:prstGeom prst="rect">
            <a:avLst/>
          </a:prstGeom>
        </p:spPr>
      </p:pic>
      <p:sp>
        <p:nvSpPr>
          <p:cNvPr id="22" name="texto-119"/>
          <p:cNvSpPr txBox="1"/>
          <p:nvPr/>
        </p:nvSpPr>
        <p:spPr>
          <a:xfrm>
            <a:off x="5309921" y="2697480"/>
            <a:ext cx="1571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Proposta</a:t>
            </a:r>
            <a:endParaRPr lang="en-US" sz="1800" dirty="0"/>
          </a:p>
        </p:txBody>
      </p:sp>
      <p:sp>
        <p:nvSpPr>
          <p:cNvPr id="23" name="cartao-120"/>
          <p:cNvSpPr/>
          <p:nvPr/>
        </p:nvSpPr>
        <p:spPr>
          <a:xfrm>
            <a:off x="5383073" y="3200400"/>
            <a:ext cx="1425550" cy="1325880"/>
          </a:xfrm>
          <a:prstGeom prst="roundRect">
            <a:avLst>
              <a:gd name="adj" fmla="val 689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4" name="texto-121"/>
          <p:cNvSpPr txBox="1"/>
          <p:nvPr/>
        </p:nvSpPr>
        <p:spPr>
          <a:xfrm>
            <a:off x="5447081" y="3291840"/>
            <a:ext cx="12975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Numerada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Fixa ao enviar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Vários orçamentos</a:t>
            </a:r>
            <a:endParaRPr lang="en-US" sz="1200" dirty="0"/>
          </a:p>
        </p:txBody>
      </p:sp>
      <p:sp>
        <p:nvSpPr>
          <p:cNvPr id="25" name="ponto-122"/>
          <p:cNvSpPr/>
          <p:nvPr/>
        </p:nvSpPr>
        <p:spPr>
          <a:xfrm>
            <a:off x="7283653" y="1764792"/>
            <a:ext cx="768096" cy="768096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26" name="icone-12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5677" y="1956816"/>
            <a:ext cx="384048" cy="384048"/>
          </a:xfrm>
          <a:prstGeom prst="rect">
            <a:avLst/>
          </a:prstGeom>
        </p:spPr>
      </p:pic>
      <p:sp>
        <p:nvSpPr>
          <p:cNvPr id="27" name="texto-124"/>
          <p:cNvSpPr txBox="1"/>
          <p:nvPr/>
        </p:nvSpPr>
        <p:spPr>
          <a:xfrm>
            <a:off x="6881774" y="2697480"/>
            <a:ext cx="1571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Contrato</a:t>
            </a:r>
            <a:endParaRPr lang="en-US" sz="1800" dirty="0"/>
          </a:p>
        </p:txBody>
      </p:sp>
      <p:sp>
        <p:nvSpPr>
          <p:cNvPr id="28" name="cartao-125"/>
          <p:cNvSpPr/>
          <p:nvPr/>
        </p:nvSpPr>
        <p:spPr>
          <a:xfrm>
            <a:off x="6954926" y="3200400"/>
            <a:ext cx="1425550" cy="1325880"/>
          </a:xfrm>
          <a:prstGeom prst="roundRect">
            <a:avLst>
              <a:gd name="adj" fmla="val 689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9" name="texto-126"/>
          <p:cNvSpPr txBox="1"/>
          <p:nvPr/>
        </p:nvSpPr>
        <p:spPr>
          <a:xfrm>
            <a:off x="7018934" y="3291840"/>
            <a:ext cx="12975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Assinado online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Congelado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Stock reservado</a:t>
            </a:r>
            <a:endParaRPr lang="en-US" sz="1200" dirty="0"/>
          </a:p>
        </p:txBody>
      </p:sp>
      <p:sp>
        <p:nvSpPr>
          <p:cNvPr id="30" name="ponto-127"/>
          <p:cNvSpPr/>
          <p:nvPr/>
        </p:nvSpPr>
        <p:spPr>
          <a:xfrm>
            <a:off x="8855507" y="1764792"/>
            <a:ext cx="768096" cy="768096"/>
          </a:xfrm>
          <a:prstGeom prst="ellipse">
            <a:avLst/>
          </a:prstGeom>
          <a:solidFill>
            <a:srgbClr val="E84F70"/>
          </a:solidFill>
          <a:ln w="12700">
            <a:solidFill>
              <a:srgbClr val="E84F70"/>
            </a:solidFill>
            <a:prstDash val="solid"/>
          </a:ln>
        </p:spPr>
      </p:sp>
      <p:pic>
        <p:nvPicPr>
          <p:cNvPr id="31" name="icone-12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47531" y="1956816"/>
            <a:ext cx="384048" cy="384048"/>
          </a:xfrm>
          <a:prstGeom prst="rect">
            <a:avLst/>
          </a:prstGeom>
        </p:spPr>
      </p:pic>
      <p:sp>
        <p:nvSpPr>
          <p:cNvPr id="32" name="texto-129"/>
          <p:cNvSpPr txBox="1"/>
          <p:nvPr/>
        </p:nvSpPr>
        <p:spPr>
          <a:xfrm>
            <a:off x="8453628" y="2697480"/>
            <a:ext cx="1571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Obra</a:t>
            </a:r>
            <a:endParaRPr lang="en-US" sz="1800" dirty="0"/>
          </a:p>
        </p:txBody>
      </p:sp>
      <p:sp>
        <p:nvSpPr>
          <p:cNvPr id="33" name="cartao-130"/>
          <p:cNvSpPr/>
          <p:nvPr/>
        </p:nvSpPr>
        <p:spPr>
          <a:xfrm>
            <a:off x="8526780" y="3200400"/>
            <a:ext cx="1425550" cy="1325880"/>
          </a:xfrm>
          <a:prstGeom prst="roundRect">
            <a:avLst>
              <a:gd name="adj" fmla="val 689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4" name="texto-131"/>
          <p:cNvSpPr txBox="1"/>
          <p:nvPr/>
        </p:nvSpPr>
        <p:spPr>
          <a:xfrm>
            <a:off x="8590788" y="3291840"/>
            <a:ext cx="12975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Criada sozinha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Plano automático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Equipa e datas</a:t>
            </a:r>
            <a:endParaRPr lang="en-US" sz="1200" dirty="0"/>
          </a:p>
        </p:txBody>
      </p:sp>
      <p:sp>
        <p:nvSpPr>
          <p:cNvPr id="35" name="ponto-132"/>
          <p:cNvSpPr/>
          <p:nvPr/>
        </p:nvSpPr>
        <p:spPr>
          <a:xfrm>
            <a:off x="10427360" y="1764792"/>
            <a:ext cx="768096" cy="768096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36" name="icone-13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19384" y="1956816"/>
            <a:ext cx="384048" cy="384048"/>
          </a:xfrm>
          <a:prstGeom prst="rect">
            <a:avLst/>
          </a:prstGeom>
        </p:spPr>
      </p:pic>
      <p:sp>
        <p:nvSpPr>
          <p:cNvPr id="37" name="texto-134"/>
          <p:cNvSpPr txBox="1"/>
          <p:nvPr/>
        </p:nvSpPr>
        <p:spPr>
          <a:xfrm>
            <a:off x="10025482" y="2697480"/>
            <a:ext cx="157185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</a:t>
            </a:r>
            <a:endParaRPr lang="en-US" sz="1800" dirty="0"/>
          </a:p>
        </p:txBody>
      </p:sp>
      <p:sp>
        <p:nvSpPr>
          <p:cNvPr id="38" name="cartao-135"/>
          <p:cNvSpPr/>
          <p:nvPr/>
        </p:nvSpPr>
        <p:spPr>
          <a:xfrm>
            <a:off x="10098634" y="3200400"/>
            <a:ext cx="1425550" cy="1325880"/>
          </a:xfrm>
          <a:prstGeom prst="roundRect">
            <a:avLst>
              <a:gd name="adj" fmla="val 689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9" name="texto-136"/>
          <p:cNvSpPr txBox="1"/>
          <p:nvPr/>
        </p:nvSpPr>
        <p:spPr>
          <a:xfrm>
            <a:off x="10162642" y="3291840"/>
            <a:ext cx="129753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Cliente assina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Descarrega PDF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A8A39A"/>
                </a:solidFill>
              </a:rPr>
              <a:t>Várias empresas</a:t>
            </a:r>
            <a:endParaRPr lang="en-US" sz="1200" dirty="0"/>
          </a:p>
        </p:txBody>
      </p:sp>
      <p:sp>
        <p:nvSpPr>
          <p:cNvPr id="40" name="cartao-137"/>
          <p:cNvSpPr/>
          <p:nvPr/>
        </p:nvSpPr>
        <p:spPr>
          <a:xfrm>
            <a:off x="594360" y="4846320"/>
            <a:ext cx="11002975" cy="1188720"/>
          </a:xfrm>
          <a:prstGeom prst="roundRect">
            <a:avLst>
              <a:gd name="adj" fmla="val 7692"/>
            </a:avLst>
          </a:prstGeom>
          <a:solidFill>
            <a:srgbClr val="2A1219"/>
          </a:solidFill>
          <a:ln w="9525">
            <a:solidFill>
              <a:srgbClr val="4A1E2A"/>
            </a:solidFill>
            <a:prstDash val="solid"/>
          </a:ln>
        </p:spPr>
      </p:sp>
      <p:pic>
        <p:nvPicPr>
          <p:cNvPr id="41" name="icone-138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193792"/>
            <a:ext cx="457200" cy="457200"/>
          </a:xfrm>
          <a:prstGeom prst="rect">
            <a:avLst/>
          </a:prstGeom>
        </p:spPr>
      </p:pic>
      <p:sp>
        <p:nvSpPr>
          <p:cNvPr id="42" name="texto-139"/>
          <p:cNvSpPr txBox="1"/>
          <p:nvPr/>
        </p:nvSpPr>
        <p:spPr>
          <a:xfrm>
            <a:off x="1600200" y="4937760"/>
            <a:ext cx="97228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0E8"/>
                </a:solidFill>
              </a:rPr>
              <a:t>Funciona de ponta a ponta, mas ainda é pesado de usar.  </a:t>
            </a:r>
            <a:pPr indent="0" marL="0">
              <a:buNone/>
            </a:pPr>
            <a:r>
              <a:rPr lang="en-US" sz="1400" dirty="0">
                <a:solidFill>
                  <a:srgbClr val="A8A39A"/>
                </a:solidFill>
              </a:rPr>
              <a:t>No teste de 03/10 houve passos, abas e scroll a mais, e a morada da lead tem campos diferentes da do cliente. Simplificar o percurso é a proposta para depois da demo.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140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CAPTAÇÃO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lead tem origem, dono e próximo passo</a:t>
            </a:r>
            <a:endParaRPr lang="en-US" sz="3000" dirty="0"/>
          </a:p>
        </p:txBody>
      </p:sp>
      <p:sp>
        <p:nvSpPr>
          <p:cNvPr id="4" name="rret-141"/>
          <p:cNvSpPr/>
          <p:nvPr/>
        </p:nvSpPr>
        <p:spPr>
          <a:xfrm>
            <a:off x="731520" y="1783080"/>
            <a:ext cx="6309360" cy="3785616"/>
          </a:xfrm>
          <a:prstGeom prst="roundRect">
            <a:avLst>
              <a:gd name="adj" fmla="val 1449"/>
            </a:avLst>
          </a:prstGeom>
          <a:solidFill>
            <a:srgbClr val="2A2A2A"/>
          </a:solidFill>
          <a:ln w="6350">
            <a:solidFill>
              <a:srgbClr val="2A2A2A"/>
            </a:solidFill>
            <a:prstDash val="solid"/>
          </a:ln>
        </p:spPr>
      </p:sp>
      <p:sp>
        <p:nvSpPr>
          <p:cNvPr id="5" name="ret-142"/>
          <p:cNvSpPr/>
          <p:nvPr/>
        </p:nvSpPr>
        <p:spPr>
          <a:xfrm>
            <a:off x="813816" y="1892808"/>
            <a:ext cx="6144768" cy="3602736"/>
          </a:xfrm>
          <a:prstGeom prst="rect">
            <a:avLst/>
          </a:prstGeom>
          <a:solidFill>
            <a:srgbClr val="F4F2EE"/>
          </a:solidFill>
          <a:ln w="12700">
            <a:solidFill>
              <a:srgbClr val="F4F2EE"/>
            </a:solidFill>
            <a:prstDash val="solid"/>
          </a:ln>
        </p:spPr>
      </p:sp>
      <p:sp>
        <p:nvSpPr>
          <p:cNvPr id="6" name="base-portatil-143"/>
          <p:cNvSpPr/>
          <p:nvPr/>
        </p:nvSpPr>
        <p:spPr>
          <a:xfrm flipV="1">
            <a:off x="411480" y="5568696"/>
            <a:ext cx="6949440" cy="128016"/>
          </a:xfrm>
          <a:prstGeom prst="trapezoid">
            <a:avLst/>
          </a:prstGeom>
          <a:solidFill>
            <a:srgbClr val="3A3A3A"/>
          </a:solidFill>
          <a:ln w="12700">
            <a:solidFill>
              <a:srgbClr val="3A3A3A"/>
            </a:solidFill>
            <a:prstDash val="solid"/>
          </a:ln>
        </p:spPr>
      </p:sp>
      <p:sp>
        <p:nvSpPr>
          <p:cNvPr id="7" name="ret-144"/>
          <p:cNvSpPr/>
          <p:nvPr/>
        </p:nvSpPr>
        <p:spPr>
          <a:xfrm>
            <a:off x="813816" y="1892808"/>
            <a:ext cx="1044611" cy="3602736"/>
          </a:xfrm>
          <a:prstGeom prst="rect">
            <a:avLst/>
          </a:prstGeom>
          <a:solidFill>
            <a:srgbClr val="1C1A24"/>
          </a:solidFill>
          <a:ln w="12700">
            <a:solidFill>
              <a:srgbClr val="1C1A24"/>
            </a:solidFill>
            <a:prstDash val="solid"/>
          </a:ln>
        </p:spPr>
      </p:sp>
      <p:pic>
        <p:nvPicPr>
          <p:cNvPr id="8" name="logo-app-145" descr="C:\Users\gdial\AppData\Local\Temp\claude\D--Olyvia-Olyvia-crm\b32b3cf7-d878-4d75-a914-1e326bfc0c92\scratchpad\deck/assets/olyvia-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02536"/>
            <a:ext cx="822960" cy="274320"/>
          </a:xfrm>
          <a:prstGeom prst="rect">
            <a:avLst/>
          </a:prstGeom>
        </p:spPr>
      </p:pic>
      <p:sp>
        <p:nvSpPr>
          <p:cNvPr id="9" name="texto-146"/>
          <p:cNvSpPr txBox="1"/>
          <p:nvPr/>
        </p:nvSpPr>
        <p:spPr>
          <a:xfrm>
            <a:off x="941832" y="2395728"/>
            <a:ext cx="8617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B5C9"/>
                </a:solidFill>
              </a:rPr>
              <a:t>Painel</a:t>
            </a:r>
            <a:endParaRPr lang="en-US" sz="800" dirty="0"/>
          </a:p>
        </p:txBody>
      </p:sp>
      <p:sp>
        <p:nvSpPr>
          <p:cNvPr id="10" name="rret-147"/>
          <p:cNvSpPr/>
          <p:nvPr/>
        </p:nvSpPr>
        <p:spPr>
          <a:xfrm>
            <a:off x="868680" y="2642616"/>
            <a:ext cx="934883" cy="228600"/>
          </a:xfrm>
          <a:prstGeom prst="roundRect">
            <a:avLst>
              <a:gd name="adj" fmla="val 16000"/>
            </a:avLst>
          </a:prstGeom>
          <a:solidFill>
            <a:srgbClr val="763CE9"/>
          </a:solidFill>
          <a:ln w="6350">
            <a:solidFill>
              <a:srgbClr val="763CE9"/>
            </a:solidFill>
            <a:prstDash val="solid"/>
          </a:ln>
        </p:spPr>
      </p:sp>
      <p:sp>
        <p:nvSpPr>
          <p:cNvPr id="11" name="texto-148"/>
          <p:cNvSpPr txBox="1"/>
          <p:nvPr/>
        </p:nvSpPr>
        <p:spPr>
          <a:xfrm>
            <a:off x="941832" y="2670048"/>
            <a:ext cx="8617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Leads</a:t>
            </a:r>
            <a:endParaRPr lang="en-US" sz="800" dirty="0"/>
          </a:p>
        </p:txBody>
      </p:sp>
      <p:sp>
        <p:nvSpPr>
          <p:cNvPr id="12" name="texto-149"/>
          <p:cNvSpPr txBox="1"/>
          <p:nvPr/>
        </p:nvSpPr>
        <p:spPr>
          <a:xfrm>
            <a:off x="941832" y="2944368"/>
            <a:ext cx="8617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B5C9"/>
                </a:solidFill>
              </a:rPr>
              <a:t>Agenda</a:t>
            </a:r>
            <a:endParaRPr lang="en-US" sz="800" dirty="0"/>
          </a:p>
        </p:txBody>
      </p:sp>
      <p:sp>
        <p:nvSpPr>
          <p:cNvPr id="13" name="texto-150"/>
          <p:cNvSpPr txBox="1"/>
          <p:nvPr/>
        </p:nvSpPr>
        <p:spPr>
          <a:xfrm>
            <a:off x="941832" y="3218688"/>
            <a:ext cx="8617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B5C9"/>
                </a:solidFill>
              </a:rPr>
              <a:t>Orçamentos</a:t>
            </a:r>
            <a:endParaRPr lang="en-US" sz="800" dirty="0"/>
          </a:p>
        </p:txBody>
      </p:sp>
      <p:sp>
        <p:nvSpPr>
          <p:cNvPr id="14" name="texto-151"/>
          <p:cNvSpPr txBox="1"/>
          <p:nvPr/>
        </p:nvSpPr>
        <p:spPr>
          <a:xfrm>
            <a:off x="941832" y="3493008"/>
            <a:ext cx="8617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B5C9"/>
                </a:solidFill>
              </a:rPr>
              <a:t>Contratos</a:t>
            </a:r>
            <a:endParaRPr lang="en-US" sz="800" dirty="0"/>
          </a:p>
        </p:txBody>
      </p:sp>
      <p:sp>
        <p:nvSpPr>
          <p:cNvPr id="15" name="texto-152"/>
          <p:cNvSpPr txBox="1"/>
          <p:nvPr/>
        </p:nvSpPr>
        <p:spPr>
          <a:xfrm>
            <a:off x="941832" y="3767328"/>
            <a:ext cx="8617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B5C9"/>
                </a:solidFill>
              </a:rPr>
              <a:t>Clientes</a:t>
            </a:r>
            <a:endParaRPr lang="en-US" sz="800" dirty="0"/>
          </a:p>
        </p:txBody>
      </p:sp>
      <p:sp>
        <p:nvSpPr>
          <p:cNvPr id="16" name="texto-153"/>
          <p:cNvSpPr txBox="1"/>
          <p:nvPr/>
        </p:nvSpPr>
        <p:spPr>
          <a:xfrm>
            <a:off x="941832" y="4041648"/>
            <a:ext cx="86173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9B5C9"/>
                </a:solidFill>
              </a:rPr>
              <a:t>Operações</a:t>
            </a:r>
            <a:endParaRPr lang="en-US" sz="800" dirty="0"/>
          </a:p>
        </p:txBody>
      </p:sp>
      <p:sp>
        <p:nvSpPr>
          <p:cNvPr id="17" name="ret-154"/>
          <p:cNvSpPr/>
          <p:nvPr/>
        </p:nvSpPr>
        <p:spPr>
          <a:xfrm>
            <a:off x="1858427" y="1892808"/>
            <a:ext cx="5100157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linha-155"/>
          <p:cNvSpPr/>
          <p:nvPr/>
        </p:nvSpPr>
        <p:spPr>
          <a:xfrm>
            <a:off x="1858427" y="2221992"/>
            <a:ext cx="5100157" cy="0"/>
          </a:xfrm>
          <a:prstGeom prst="line">
            <a:avLst/>
          </a:prstGeom>
          <a:noFill/>
          <a:ln w="9525">
            <a:solidFill>
              <a:srgbClr val="E2DED7"/>
            </a:solidFill>
            <a:prstDash val="solid"/>
          </a:ln>
        </p:spPr>
      </p:sp>
      <p:sp>
        <p:nvSpPr>
          <p:cNvPr id="19" name="texto-156"/>
          <p:cNvSpPr txBox="1"/>
          <p:nvPr/>
        </p:nvSpPr>
        <p:spPr>
          <a:xfrm>
            <a:off x="1995587" y="197510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A3A"/>
                </a:solidFill>
              </a:rPr>
              <a:t>Leads · Funil Mudelar</a:t>
            </a:r>
            <a:endParaRPr lang="en-US" sz="900" dirty="0"/>
          </a:p>
        </p:txBody>
      </p:sp>
      <p:sp>
        <p:nvSpPr>
          <p:cNvPr id="20" name="ponto-157"/>
          <p:cNvSpPr/>
          <p:nvPr/>
        </p:nvSpPr>
        <p:spPr>
          <a:xfrm>
            <a:off x="1995587" y="2386584"/>
            <a:ext cx="91440" cy="91440"/>
          </a:xfrm>
          <a:prstGeom prst="ellipse">
            <a:avLst/>
          </a:prstGeom>
          <a:solidFill>
            <a:srgbClr val="6E6A64"/>
          </a:solidFill>
          <a:ln w="12700">
            <a:solidFill>
              <a:srgbClr val="6E6A64"/>
            </a:solidFill>
            <a:prstDash val="solid"/>
          </a:ln>
        </p:spPr>
      </p:sp>
      <p:sp>
        <p:nvSpPr>
          <p:cNvPr id="21" name="texto-158"/>
          <p:cNvSpPr txBox="1"/>
          <p:nvPr/>
        </p:nvSpPr>
        <p:spPr>
          <a:xfrm>
            <a:off x="2132747" y="2331720"/>
            <a:ext cx="10007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Nova</a:t>
            </a:r>
            <a:endParaRPr lang="en-US" sz="800" dirty="0"/>
          </a:p>
        </p:txBody>
      </p:sp>
      <p:sp>
        <p:nvSpPr>
          <p:cNvPr id="22" name="rret-159"/>
          <p:cNvSpPr/>
          <p:nvPr/>
        </p:nvSpPr>
        <p:spPr>
          <a:xfrm>
            <a:off x="1995587" y="2624328"/>
            <a:ext cx="1137879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23" name="texto-160"/>
          <p:cNvSpPr txBox="1"/>
          <p:nvPr/>
        </p:nvSpPr>
        <p:spPr>
          <a:xfrm>
            <a:off x="2068739" y="2688336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Cozinha · Lisboa</a:t>
            </a:r>
            <a:endParaRPr lang="en-US" sz="800" dirty="0"/>
          </a:p>
        </p:txBody>
      </p:sp>
      <p:sp>
        <p:nvSpPr>
          <p:cNvPr id="24" name="texto-161"/>
          <p:cNvSpPr txBox="1"/>
          <p:nvPr/>
        </p:nvSpPr>
        <p:spPr>
          <a:xfrm>
            <a:off x="2068739" y="2871216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A64"/>
                </a:solidFill>
              </a:rPr>
              <a:t>Google Ads</a:t>
            </a:r>
            <a:endParaRPr lang="en-US" sz="750" dirty="0"/>
          </a:p>
        </p:txBody>
      </p:sp>
      <p:sp>
        <p:nvSpPr>
          <p:cNvPr id="25" name="rret-162"/>
          <p:cNvSpPr/>
          <p:nvPr/>
        </p:nvSpPr>
        <p:spPr>
          <a:xfrm>
            <a:off x="1995587" y="3191256"/>
            <a:ext cx="1137879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26" name="texto-163"/>
          <p:cNvSpPr txBox="1"/>
          <p:nvPr/>
        </p:nvSpPr>
        <p:spPr>
          <a:xfrm>
            <a:off x="2068739" y="3255264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WC · Almada</a:t>
            </a:r>
            <a:endParaRPr lang="en-US" sz="800" dirty="0"/>
          </a:p>
        </p:txBody>
      </p:sp>
      <p:sp>
        <p:nvSpPr>
          <p:cNvPr id="27" name="texto-164"/>
          <p:cNvSpPr txBox="1"/>
          <p:nvPr/>
        </p:nvSpPr>
        <p:spPr>
          <a:xfrm>
            <a:off x="2068739" y="3438144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A64"/>
                </a:solidFill>
              </a:rPr>
              <a:t>Site</a:t>
            </a:r>
            <a:endParaRPr lang="en-US" sz="750" dirty="0"/>
          </a:p>
        </p:txBody>
      </p:sp>
      <p:sp>
        <p:nvSpPr>
          <p:cNvPr id="28" name="rret-165"/>
          <p:cNvSpPr/>
          <p:nvPr/>
        </p:nvSpPr>
        <p:spPr>
          <a:xfrm>
            <a:off x="1995587" y="3758184"/>
            <a:ext cx="1137879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29" name="texto-166"/>
          <p:cNvSpPr txBox="1"/>
          <p:nvPr/>
        </p:nvSpPr>
        <p:spPr>
          <a:xfrm>
            <a:off x="2068739" y="3822192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Cozinha · Oeiras</a:t>
            </a:r>
            <a:endParaRPr lang="en-US" sz="800" dirty="0"/>
          </a:p>
        </p:txBody>
      </p:sp>
      <p:sp>
        <p:nvSpPr>
          <p:cNvPr id="30" name="texto-167"/>
          <p:cNvSpPr txBox="1"/>
          <p:nvPr/>
        </p:nvSpPr>
        <p:spPr>
          <a:xfrm>
            <a:off x="2068739" y="4005072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E6A64"/>
                </a:solidFill>
              </a:rPr>
              <a:t>Instagram</a:t>
            </a:r>
            <a:endParaRPr lang="en-US" sz="750" dirty="0"/>
          </a:p>
        </p:txBody>
      </p:sp>
      <p:sp>
        <p:nvSpPr>
          <p:cNvPr id="31" name="ponto-168"/>
          <p:cNvSpPr/>
          <p:nvPr/>
        </p:nvSpPr>
        <p:spPr>
          <a:xfrm>
            <a:off x="3224906" y="2386584"/>
            <a:ext cx="91440" cy="91440"/>
          </a:xfrm>
          <a:prstGeom prst="ellipse">
            <a:avLst/>
          </a:prstGeom>
          <a:solidFill>
            <a:srgbClr val="4462FF"/>
          </a:solidFill>
          <a:ln w="12700">
            <a:solidFill>
              <a:srgbClr val="4462FF"/>
            </a:solidFill>
            <a:prstDash val="solid"/>
          </a:ln>
        </p:spPr>
      </p:sp>
      <p:sp>
        <p:nvSpPr>
          <p:cNvPr id="32" name="texto-169"/>
          <p:cNvSpPr txBox="1"/>
          <p:nvPr/>
        </p:nvSpPr>
        <p:spPr>
          <a:xfrm>
            <a:off x="3362066" y="2331720"/>
            <a:ext cx="10007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Qualificada</a:t>
            </a:r>
            <a:endParaRPr lang="en-US" sz="800" dirty="0"/>
          </a:p>
        </p:txBody>
      </p:sp>
      <p:sp>
        <p:nvSpPr>
          <p:cNvPr id="33" name="rret-170"/>
          <p:cNvSpPr/>
          <p:nvPr/>
        </p:nvSpPr>
        <p:spPr>
          <a:xfrm>
            <a:off x="3224906" y="2624328"/>
            <a:ext cx="1137879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34" name="texto-171"/>
          <p:cNvSpPr txBox="1"/>
          <p:nvPr/>
        </p:nvSpPr>
        <p:spPr>
          <a:xfrm>
            <a:off x="3298058" y="2688336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WC · Cascais</a:t>
            </a:r>
            <a:endParaRPr lang="en-US" sz="800" dirty="0"/>
          </a:p>
        </p:txBody>
      </p:sp>
      <p:sp>
        <p:nvSpPr>
          <p:cNvPr id="35" name="texto-172"/>
          <p:cNvSpPr txBox="1"/>
          <p:nvPr/>
        </p:nvSpPr>
        <p:spPr>
          <a:xfrm>
            <a:off x="3298058" y="2871216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62FF"/>
                </a:solidFill>
              </a:rPr>
              <a:t>MQL · urgente</a:t>
            </a:r>
            <a:endParaRPr lang="en-US" sz="750" dirty="0"/>
          </a:p>
        </p:txBody>
      </p:sp>
      <p:sp>
        <p:nvSpPr>
          <p:cNvPr id="36" name="rret-173"/>
          <p:cNvSpPr/>
          <p:nvPr/>
        </p:nvSpPr>
        <p:spPr>
          <a:xfrm>
            <a:off x="3224906" y="3191256"/>
            <a:ext cx="1137879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37" name="texto-174"/>
          <p:cNvSpPr txBox="1"/>
          <p:nvPr/>
        </p:nvSpPr>
        <p:spPr>
          <a:xfrm>
            <a:off x="3298058" y="3255264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Remodelação · Porto</a:t>
            </a:r>
            <a:endParaRPr lang="en-US" sz="800" dirty="0"/>
          </a:p>
        </p:txBody>
      </p:sp>
      <p:sp>
        <p:nvSpPr>
          <p:cNvPr id="38" name="texto-175"/>
          <p:cNvSpPr txBox="1"/>
          <p:nvPr/>
        </p:nvSpPr>
        <p:spPr>
          <a:xfrm>
            <a:off x="3298058" y="3438144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462FF"/>
                </a:solidFill>
              </a:rPr>
              <a:t>MQL</a:t>
            </a:r>
            <a:endParaRPr lang="en-US" sz="750" dirty="0"/>
          </a:p>
        </p:txBody>
      </p:sp>
      <p:sp>
        <p:nvSpPr>
          <p:cNvPr id="39" name="ponto-176"/>
          <p:cNvSpPr/>
          <p:nvPr/>
        </p:nvSpPr>
        <p:spPr>
          <a:xfrm>
            <a:off x="4454225" y="2386584"/>
            <a:ext cx="91440" cy="91440"/>
          </a:xfrm>
          <a:prstGeom prst="ellipse">
            <a:avLst/>
          </a:prstGeom>
          <a:solidFill>
            <a:srgbClr val="67A392"/>
          </a:solidFill>
          <a:ln w="12700">
            <a:solidFill>
              <a:srgbClr val="67A392"/>
            </a:solidFill>
            <a:prstDash val="solid"/>
          </a:ln>
        </p:spPr>
      </p:sp>
      <p:sp>
        <p:nvSpPr>
          <p:cNvPr id="40" name="texto-177"/>
          <p:cNvSpPr txBox="1"/>
          <p:nvPr/>
        </p:nvSpPr>
        <p:spPr>
          <a:xfrm>
            <a:off x="4591385" y="2331720"/>
            <a:ext cx="10007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Visita marcada</a:t>
            </a:r>
            <a:endParaRPr lang="en-US" sz="800" dirty="0"/>
          </a:p>
        </p:txBody>
      </p:sp>
      <p:sp>
        <p:nvSpPr>
          <p:cNvPr id="41" name="rret-178"/>
          <p:cNvSpPr/>
          <p:nvPr/>
        </p:nvSpPr>
        <p:spPr>
          <a:xfrm>
            <a:off x="4454225" y="2624328"/>
            <a:ext cx="1137879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42" name="texto-179"/>
          <p:cNvSpPr txBox="1"/>
          <p:nvPr/>
        </p:nvSpPr>
        <p:spPr>
          <a:xfrm>
            <a:off x="4527377" y="2688336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WC · Lisboa</a:t>
            </a:r>
            <a:endParaRPr lang="en-US" sz="800" dirty="0"/>
          </a:p>
        </p:txBody>
      </p:sp>
      <p:sp>
        <p:nvSpPr>
          <p:cNvPr id="43" name="texto-180"/>
          <p:cNvSpPr txBox="1"/>
          <p:nvPr/>
        </p:nvSpPr>
        <p:spPr>
          <a:xfrm>
            <a:off x="4527377" y="2871216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7A392"/>
                </a:solidFill>
              </a:rPr>
              <a:t>qui 10:00</a:t>
            </a:r>
            <a:endParaRPr lang="en-US" sz="750" dirty="0"/>
          </a:p>
        </p:txBody>
      </p:sp>
      <p:sp>
        <p:nvSpPr>
          <p:cNvPr id="44" name="rret-181"/>
          <p:cNvSpPr/>
          <p:nvPr/>
        </p:nvSpPr>
        <p:spPr>
          <a:xfrm>
            <a:off x="4454225" y="3191256"/>
            <a:ext cx="1137879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45" name="texto-182"/>
          <p:cNvSpPr txBox="1"/>
          <p:nvPr/>
        </p:nvSpPr>
        <p:spPr>
          <a:xfrm>
            <a:off x="4527377" y="3255264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Cozinha · Sintra</a:t>
            </a:r>
            <a:endParaRPr lang="en-US" sz="800" dirty="0"/>
          </a:p>
        </p:txBody>
      </p:sp>
      <p:sp>
        <p:nvSpPr>
          <p:cNvPr id="46" name="texto-183"/>
          <p:cNvSpPr txBox="1"/>
          <p:nvPr/>
        </p:nvSpPr>
        <p:spPr>
          <a:xfrm>
            <a:off x="4527377" y="3438144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7A392"/>
                </a:solidFill>
              </a:rPr>
              <a:t>sex 15:30</a:t>
            </a:r>
            <a:endParaRPr lang="en-US" sz="750" dirty="0"/>
          </a:p>
        </p:txBody>
      </p:sp>
      <p:sp>
        <p:nvSpPr>
          <p:cNvPr id="47" name="ponto-184"/>
          <p:cNvSpPr/>
          <p:nvPr/>
        </p:nvSpPr>
        <p:spPr>
          <a:xfrm>
            <a:off x="5683545" y="2386584"/>
            <a:ext cx="91440" cy="91440"/>
          </a:xfrm>
          <a:prstGeom prst="ellipse">
            <a:avLst/>
          </a:prstGeom>
          <a:solidFill>
            <a:srgbClr val="763CE9"/>
          </a:solidFill>
          <a:ln w="12700">
            <a:solidFill>
              <a:srgbClr val="763CE9"/>
            </a:solidFill>
            <a:prstDash val="solid"/>
          </a:ln>
        </p:spPr>
      </p:sp>
      <p:sp>
        <p:nvSpPr>
          <p:cNvPr id="48" name="texto-185"/>
          <p:cNvSpPr txBox="1"/>
          <p:nvPr/>
        </p:nvSpPr>
        <p:spPr>
          <a:xfrm>
            <a:off x="5820705" y="2331720"/>
            <a:ext cx="100071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Proposta</a:t>
            </a:r>
            <a:endParaRPr lang="en-US" sz="800" dirty="0"/>
          </a:p>
        </p:txBody>
      </p:sp>
      <p:sp>
        <p:nvSpPr>
          <p:cNvPr id="49" name="rret-186"/>
          <p:cNvSpPr/>
          <p:nvPr/>
        </p:nvSpPr>
        <p:spPr>
          <a:xfrm>
            <a:off x="5683545" y="2624328"/>
            <a:ext cx="1137879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50" name="texto-187"/>
          <p:cNvSpPr txBox="1"/>
          <p:nvPr/>
        </p:nvSpPr>
        <p:spPr>
          <a:xfrm>
            <a:off x="5756697" y="2688336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A3A3A"/>
                </a:solidFill>
              </a:rPr>
              <a:t>WC · Amadora</a:t>
            </a:r>
            <a:endParaRPr lang="en-US" sz="800" dirty="0"/>
          </a:p>
        </p:txBody>
      </p:sp>
      <p:sp>
        <p:nvSpPr>
          <p:cNvPr id="51" name="texto-188"/>
          <p:cNvSpPr txBox="1"/>
          <p:nvPr/>
        </p:nvSpPr>
        <p:spPr>
          <a:xfrm>
            <a:off x="5756697" y="2871216"/>
            <a:ext cx="102815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763CE9"/>
                </a:solidFill>
              </a:rPr>
              <a:t>enviada</a:t>
            </a:r>
            <a:endParaRPr lang="en-US" sz="750" dirty="0"/>
          </a:p>
        </p:txBody>
      </p:sp>
      <p:sp>
        <p:nvSpPr>
          <p:cNvPr id="52" name="texto-189"/>
          <p:cNvSpPr txBox="1"/>
          <p:nvPr/>
        </p:nvSpPr>
        <p:spPr>
          <a:xfrm>
            <a:off x="731520" y="5897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4"/>
                </a:solidFill>
              </a:rPr>
              <a:t>Ecrã ilustrativo, sem dados reais.</a:t>
            </a:r>
            <a:endParaRPr lang="en-US" sz="1000" dirty="0"/>
          </a:p>
        </p:txBody>
      </p:sp>
      <p:sp>
        <p:nvSpPr>
          <p:cNvPr id="53" name="texto-190"/>
          <p:cNvSpPr txBox="1"/>
          <p:nvPr/>
        </p:nvSpPr>
        <p:spPr>
          <a:xfrm>
            <a:off x="7269480" y="1737360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Funil por empresa</a:t>
            </a:r>
            <a:endParaRPr lang="en-US" sz="1600" dirty="0"/>
          </a:p>
        </p:txBody>
      </p:sp>
      <p:sp>
        <p:nvSpPr>
          <p:cNvPr id="54" name="texto-191"/>
          <p:cNvSpPr txBox="1"/>
          <p:nvPr/>
        </p:nvSpPr>
        <p:spPr>
          <a:xfrm>
            <a:off x="7269480" y="2048256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Etapas e regras de passagem configuráveis, com qualificação MQL e SQL</a:t>
            </a:r>
            <a:endParaRPr lang="en-US" sz="1300" dirty="0"/>
          </a:p>
        </p:txBody>
      </p:sp>
      <p:sp>
        <p:nvSpPr>
          <p:cNvPr id="55" name="texto-192"/>
          <p:cNvSpPr txBox="1"/>
          <p:nvPr/>
        </p:nvSpPr>
        <p:spPr>
          <a:xfrm>
            <a:off x="7269480" y="2578608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Origem automática</a:t>
            </a:r>
            <a:endParaRPr lang="en-US" sz="1600" dirty="0"/>
          </a:p>
        </p:txBody>
      </p:sp>
      <p:sp>
        <p:nvSpPr>
          <p:cNvPr id="56" name="texto-193"/>
          <p:cNvSpPr txBox="1"/>
          <p:nvPr/>
        </p:nvSpPr>
        <p:spPr>
          <a:xfrm>
            <a:off x="7269480" y="2889504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Site, Google Analytics e campanhas, guardada até virar cliente</a:t>
            </a:r>
            <a:endParaRPr lang="en-US" sz="1300" dirty="0"/>
          </a:p>
        </p:txBody>
      </p:sp>
      <p:sp>
        <p:nvSpPr>
          <p:cNvPr id="57" name="texto-194"/>
          <p:cNvSpPr txBox="1"/>
          <p:nvPr/>
        </p:nvSpPr>
        <p:spPr>
          <a:xfrm>
            <a:off x="7269480" y="3419856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Sem repetidos</a:t>
            </a:r>
            <a:endParaRPr lang="en-US" sz="1600" dirty="0"/>
          </a:p>
        </p:txBody>
      </p:sp>
      <p:sp>
        <p:nvSpPr>
          <p:cNvPr id="58" name="texto-195"/>
          <p:cNvSpPr txBox="1"/>
          <p:nvPr/>
        </p:nvSpPr>
        <p:spPr>
          <a:xfrm>
            <a:off x="7269480" y="3730752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O formulário reconhece quem já existe; em caso de dúvida escolhe-se</a:t>
            </a:r>
            <a:endParaRPr lang="en-US" sz="1300" dirty="0"/>
          </a:p>
        </p:txBody>
      </p:sp>
      <p:sp>
        <p:nvSpPr>
          <p:cNvPr id="59" name="texto-196"/>
          <p:cNvSpPr txBox="1"/>
          <p:nvPr/>
        </p:nvSpPr>
        <p:spPr>
          <a:xfrm>
            <a:off x="7269480" y="4261104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Nada se perde</a:t>
            </a:r>
            <a:endParaRPr lang="en-US" sz="1600" dirty="0"/>
          </a:p>
        </p:txBody>
      </p:sp>
      <p:sp>
        <p:nvSpPr>
          <p:cNvPr id="60" name="texto-197"/>
          <p:cNvSpPr txBox="1"/>
          <p:nvPr/>
        </p:nvSpPr>
        <p:spPr>
          <a:xfrm>
            <a:off x="7269480" y="4572000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Motivo obrigatório ao perder; quem volta a contactar sobe na lista</a:t>
            </a:r>
            <a:endParaRPr lang="en-US" sz="1300" dirty="0"/>
          </a:p>
        </p:txBody>
      </p:sp>
      <p:sp>
        <p:nvSpPr>
          <p:cNvPr id="61" name="texto-198"/>
          <p:cNvSpPr txBox="1"/>
          <p:nvPr/>
        </p:nvSpPr>
        <p:spPr>
          <a:xfrm>
            <a:off x="7269480" y="5102352"/>
            <a:ext cx="43278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Meu Dia</a:t>
            </a:r>
            <a:endParaRPr lang="en-US" sz="1600" dirty="0"/>
          </a:p>
        </p:txBody>
      </p:sp>
      <p:sp>
        <p:nvSpPr>
          <p:cNvPr id="62" name="texto-199"/>
          <p:cNvSpPr txBox="1"/>
          <p:nvPr/>
        </p:nvSpPr>
        <p:spPr>
          <a:xfrm>
            <a:off x="7269480" y="5413248"/>
            <a:ext cx="4327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Tarefas e calendário do comercial num só ecrã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200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VISITAS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cliente marca, o sistema escolhe o comercial certo</a:t>
            </a:r>
            <a:endParaRPr lang="en-US" sz="3000" dirty="0"/>
          </a:p>
        </p:txBody>
      </p:sp>
      <p:sp>
        <p:nvSpPr>
          <p:cNvPr id="4" name="rret-201"/>
          <p:cNvSpPr/>
          <p:nvPr/>
        </p:nvSpPr>
        <p:spPr>
          <a:xfrm>
            <a:off x="868680" y="1600200"/>
            <a:ext cx="2195474" cy="4480560"/>
          </a:xfrm>
          <a:prstGeom prst="roundRect">
            <a:avLst>
              <a:gd name="adj" fmla="val 9163"/>
            </a:avLst>
          </a:prstGeom>
          <a:solidFill>
            <a:srgbClr val="050505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5" name="rret-202"/>
          <p:cNvSpPr/>
          <p:nvPr/>
        </p:nvSpPr>
        <p:spPr>
          <a:xfrm>
            <a:off x="960120" y="1709928"/>
            <a:ext cx="2012594" cy="4261104"/>
          </a:xfrm>
          <a:prstGeom prst="roundRect">
            <a:avLst>
              <a:gd name="adj" fmla="val 7269"/>
            </a:avLst>
          </a:prstGeom>
          <a:solidFill>
            <a:srgbClr val="F4F2EE"/>
          </a:solidFill>
          <a:ln w="6350">
            <a:solidFill>
              <a:srgbClr val="F4F2EE"/>
            </a:solidFill>
            <a:prstDash val="solid"/>
          </a:ln>
        </p:spPr>
      </p:sp>
      <p:sp>
        <p:nvSpPr>
          <p:cNvPr id="6" name="rret-203"/>
          <p:cNvSpPr/>
          <p:nvPr/>
        </p:nvSpPr>
        <p:spPr>
          <a:xfrm>
            <a:off x="1646377" y="1755648"/>
            <a:ext cx="640080" cy="91440"/>
          </a:xfrm>
          <a:prstGeom prst="roundRect">
            <a:avLst>
              <a:gd name="adj" fmla="val 50000"/>
            </a:avLst>
          </a:prstGeom>
          <a:solidFill>
            <a:srgbClr val="050505"/>
          </a:solidFill>
          <a:ln w="6350">
            <a:solidFill>
              <a:srgbClr val="050505"/>
            </a:solidFill>
            <a:prstDash val="solid"/>
          </a:ln>
        </p:spPr>
      </p:sp>
      <p:sp>
        <p:nvSpPr>
          <p:cNvPr id="7" name="texto-204"/>
          <p:cNvSpPr txBox="1"/>
          <p:nvPr/>
        </p:nvSpPr>
        <p:spPr>
          <a:xfrm>
            <a:off x="960120" y="1984248"/>
            <a:ext cx="20125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A3A"/>
                </a:solidFill>
              </a:rPr>
              <a:t>Mudelar</a:t>
            </a:r>
            <a:endParaRPr lang="en-US" sz="1000" dirty="0"/>
          </a:p>
        </p:txBody>
      </p:sp>
      <p:sp>
        <p:nvSpPr>
          <p:cNvPr id="8" name="rret-205"/>
          <p:cNvSpPr/>
          <p:nvPr/>
        </p:nvSpPr>
        <p:spPr>
          <a:xfrm>
            <a:off x="1069848" y="2395728"/>
            <a:ext cx="1509674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9" name="texto-206"/>
          <p:cNvSpPr txBox="1"/>
          <p:nvPr/>
        </p:nvSpPr>
        <p:spPr>
          <a:xfrm>
            <a:off x="1143000" y="2441448"/>
            <a:ext cx="136337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</a:rPr>
              <a:t>A sua visita está marcada para quinta, 10:00. Responda SIM para confirmar.</a:t>
            </a:r>
            <a:endParaRPr lang="en-US" sz="850" dirty="0"/>
          </a:p>
        </p:txBody>
      </p:sp>
      <p:sp>
        <p:nvSpPr>
          <p:cNvPr id="10" name="sms-resposta"/>
          <p:cNvSpPr/>
          <p:nvPr/>
        </p:nvSpPr>
        <p:spPr>
          <a:xfrm>
            <a:off x="2104034" y="3264408"/>
            <a:ext cx="731520" cy="329184"/>
          </a:xfrm>
          <a:prstGeom prst="roundRect">
            <a:avLst>
              <a:gd name="adj" fmla="val 22222"/>
            </a:avLst>
          </a:prstGeom>
          <a:solidFill>
            <a:srgbClr val="67A392"/>
          </a:solidFill>
          <a:ln w="12700">
            <a:solidFill>
              <a:srgbClr val="67A392"/>
            </a:solidFill>
            <a:prstDash val="solid"/>
          </a:ln>
        </p:spPr>
      </p:sp>
      <p:sp>
        <p:nvSpPr>
          <p:cNvPr id="11" name="texto-207"/>
          <p:cNvSpPr txBox="1"/>
          <p:nvPr/>
        </p:nvSpPr>
        <p:spPr>
          <a:xfrm>
            <a:off x="2104034" y="3264408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SIM</a:t>
            </a:r>
            <a:endParaRPr lang="en-US" sz="900" dirty="0"/>
          </a:p>
        </p:txBody>
      </p:sp>
      <p:sp>
        <p:nvSpPr>
          <p:cNvPr id="12" name="rret-208"/>
          <p:cNvSpPr/>
          <p:nvPr/>
        </p:nvSpPr>
        <p:spPr>
          <a:xfrm>
            <a:off x="1069848" y="3767328"/>
            <a:ext cx="1509674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13" name="texto-209"/>
          <p:cNvSpPr txBox="1"/>
          <p:nvPr/>
        </p:nvSpPr>
        <p:spPr>
          <a:xfrm>
            <a:off x="1143000" y="3813048"/>
            <a:ext cx="136337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</a:rPr>
              <a:t>Obrigado, está confirmada. Até quinta.</a:t>
            </a:r>
            <a:endParaRPr lang="en-US" sz="850" dirty="0"/>
          </a:p>
        </p:txBody>
      </p:sp>
      <p:sp>
        <p:nvSpPr>
          <p:cNvPr id="14" name="rret-210"/>
          <p:cNvSpPr/>
          <p:nvPr/>
        </p:nvSpPr>
        <p:spPr>
          <a:xfrm>
            <a:off x="1069848" y="4407408"/>
            <a:ext cx="1509674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15" name="texto-211"/>
          <p:cNvSpPr txBox="1"/>
          <p:nvPr/>
        </p:nvSpPr>
        <p:spPr>
          <a:xfrm>
            <a:off x="1143000" y="4453128"/>
            <a:ext cx="136337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3A3A3A"/>
                </a:solidFill>
              </a:rPr>
              <a:t>Lembrete: amanhã às 10:00. Precisa de mudar? Use o link.</a:t>
            </a:r>
            <a:endParaRPr lang="en-US" sz="850" dirty="0"/>
          </a:p>
        </p:txBody>
      </p:sp>
      <p:sp>
        <p:nvSpPr>
          <p:cNvPr id="16" name="texto-212"/>
          <p:cNvSpPr txBox="1"/>
          <p:nvPr/>
        </p:nvSpPr>
        <p:spPr>
          <a:xfrm>
            <a:off x="868680" y="6172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4"/>
                </a:solidFill>
              </a:rPr>
              <a:t>Mensagens ilustrativas.</a:t>
            </a:r>
            <a:endParaRPr lang="en-US" sz="1000" dirty="0"/>
          </a:p>
        </p:txBody>
      </p:sp>
      <p:sp>
        <p:nvSpPr>
          <p:cNvPr id="17" name="cartao-213"/>
          <p:cNvSpPr/>
          <p:nvPr/>
        </p:nvSpPr>
        <p:spPr>
          <a:xfrm>
            <a:off x="3931920" y="1691640"/>
            <a:ext cx="369554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8" name="ponto-214"/>
          <p:cNvSpPr/>
          <p:nvPr/>
        </p:nvSpPr>
        <p:spPr>
          <a:xfrm>
            <a:off x="4160520" y="1920240"/>
            <a:ext cx="502920" cy="50292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19" name="icone-21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86250" y="2045970"/>
            <a:ext cx="251460" cy="251460"/>
          </a:xfrm>
          <a:prstGeom prst="rect">
            <a:avLst/>
          </a:prstGeom>
        </p:spPr>
      </p:pic>
      <p:sp>
        <p:nvSpPr>
          <p:cNvPr id="20" name="texto-216"/>
          <p:cNvSpPr txBox="1"/>
          <p:nvPr/>
        </p:nvSpPr>
        <p:spPr>
          <a:xfrm>
            <a:off x="4800600" y="1892808"/>
            <a:ext cx="2689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Comercial mais perto</a:t>
            </a:r>
            <a:endParaRPr lang="en-US" sz="1500" dirty="0"/>
          </a:p>
        </p:txBody>
      </p:sp>
      <p:sp>
        <p:nvSpPr>
          <p:cNvPr id="21" name="texto-217"/>
          <p:cNvSpPr txBox="1"/>
          <p:nvPr/>
        </p:nvSpPr>
        <p:spPr>
          <a:xfrm>
            <a:off x="4800600" y="2240280"/>
            <a:ext cx="2643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Por distrito, distância real e tempo de viagem entre visitas</a:t>
            </a:r>
            <a:endParaRPr lang="en-US" sz="1200" dirty="0"/>
          </a:p>
        </p:txBody>
      </p:sp>
      <p:sp>
        <p:nvSpPr>
          <p:cNvPr id="22" name="cartao-218"/>
          <p:cNvSpPr/>
          <p:nvPr/>
        </p:nvSpPr>
        <p:spPr>
          <a:xfrm>
            <a:off x="7901788" y="1691640"/>
            <a:ext cx="369554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3" name="ponto-219"/>
          <p:cNvSpPr/>
          <p:nvPr/>
        </p:nvSpPr>
        <p:spPr>
          <a:xfrm>
            <a:off x="8130388" y="1920240"/>
            <a:ext cx="502920" cy="50292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24" name="icone-22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6118" y="2045970"/>
            <a:ext cx="251460" cy="251460"/>
          </a:xfrm>
          <a:prstGeom prst="rect">
            <a:avLst/>
          </a:prstGeom>
        </p:spPr>
      </p:pic>
      <p:sp>
        <p:nvSpPr>
          <p:cNvPr id="25" name="texto-221"/>
          <p:cNvSpPr txBox="1"/>
          <p:nvPr/>
        </p:nvSpPr>
        <p:spPr>
          <a:xfrm>
            <a:off x="8770468" y="1892808"/>
            <a:ext cx="2689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Agenda que não falha</a:t>
            </a:r>
            <a:endParaRPr lang="en-US" sz="1500" dirty="0"/>
          </a:p>
        </p:txBody>
      </p:sp>
      <p:sp>
        <p:nvSpPr>
          <p:cNvPr id="26" name="texto-222"/>
          <p:cNvSpPr txBox="1"/>
          <p:nvPr/>
        </p:nvSpPr>
        <p:spPr>
          <a:xfrm>
            <a:off x="8770468" y="2240280"/>
            <a:ext cx="2643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Só oferece horas que existem; feriados, almoço e antecedência mínima</a:t>
            </a:r>
            <a:endParaRPr lang="en-US" sz="1200" dirty="0"/>
          </a:p>
        </p:txBody>
      </p:sp>
      <p:sp>
        <p:nvSpPr>
          <p:cNvPr id="27" name="cartao-223"/>
          <p:cNvSpPr/>
          <p:nvPr/>
        </p:nvSpPr>
        <p:spPr>
          <a:xfrm>
            <a:off x="3931920" y="3108960"/>
            <a:ext cx="369554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8" name="ponto-224"/>
          <p:cNvSpPr/>
          <p:nvPr/>
        </p:nvSpPr>
        <p:spPr>
          <a:xfrm>
            <a:off x="4160520" y="3337560"/>
            <a:ext cx="502920" cy="50292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29" name="icone-22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0" y="3463290"/>
            <a:ext cx="251460" cy="251460"/>
          </a:xfrm>
          <a:prstGeom prst="rect">
            <a:avLst/>
          </a:prstGeom>
        </p:spPr>
      </p:pic>
      <p:sp>
        <p:nvSpPr>
          <p:cNvPr id="30" name="texto-226"/>
          <p:cNvSpPr txBox="1"/>
          <p:nvPr/>
        </p:nvSpPr>
        <p:spPr>
          <a:xfrm>
            <a:off x="4800600" y="3310128"/>
            <a:ext cx="2689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SMS e confirmação</a:t>
            </a:r>
            <a:endParaRPr lang="en-US" sz="1500" dirty="0"/>
          </a:p>
        </p:txBody>
      </p:sp>
      <p:sp>
        <p:nvSpPr>
          <p:cNvPr id="31" name="texto-227"/>
          <p:cNvSpPr txBox="1"/>
          <p:nvPr/>
        </p:nvSpPr>
        <p:spPr>
          <a:xfrm>
            <a:off x="4800600" y="3657600"/>
            <a:ext cx="2643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Confirmação, lembrete e resposta do cliente, tudo automático</a:t>
            </a:r>
            <a:endParaRPr lang="en-US" sz="1200" dirty="0"/>
          </a:p>
        </p:txBody>
      </p:sp>
      <p:sp>
        <p:nvSpPr>
          <p:cNvPr id="32" name="cartao-228"/>
          <p:cNvSpPr/>
          <p:nvPr/>
        </p:nvSpPr>
        <p:spPr>
          <a:xfrm>
            <a:off x="7901788" y="3108960"/>
            <a:ext cx="369554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3" name="ponto-229"/>
          <p:cNvSpPr/>
          <p:nvPr/>
        </p:nvSpPr>
        <p:spPr>
          <a:xfrm>
            <a:off x="8130388" y="3337560"/>
            <a:ext cx="502920" cy="50292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34" name="icone-23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6118" y="3463290"/>
            <a:ext cx="251460" cy="251460"/>
          </a:xfrm>
          <a:prstGeom prst="rect">
            <a:avLst/>
          </a:prstGeom>
        </p:spPr>
      </p:pic>
      <p:sp>
        <p:nvSpPr>
          <p:cNvPr id="35" name="texto-231"/>
          <p:cNvSpPr txBox="1"/>
          <p:nvPr/>
        </p:nvSpPr>
        <p:spPr>
          <a:xfrm>
            <a:off x="8770468" y="3310128"/>
            <a:ext cx="2689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Mudanças avisadas</a:t>
            </a:r>
            <a:endParaRPr lang="en-US" sz="1500" dirty="0"/>
          </a:p>
        </p:txBody>
      </p:sp>
      <p:sp>
        <p:nvSpPr>
          <p:cNvPr id="36" name="texto-232"/>
          <p:cNvSpPr txBox="1"/>
          <p:nvPr/>
        </p:nvSpPr>
        <p:spPr>
          <a:xfrm>
            <a:off x="8770468" y="3657600"/>
            <a:ext cx="2643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Reagendar avisa o cliente e move os lembretes com a visita</a:t>
            </a:r>
            <a:endParaRPr lang="en-US" sz="1200" dirty="0"/>
          </a:p>
        </p:txBody>
      </p:sp>
      <p:sp>
        <p:nvSpPr>
          <p:cNvPr id="37" name="cartao-233"/>
          <p:cNvSpPr/>
          <p:nvPr/>
        </p:nvSpPr>
        <p:spPr>
          <a:xfrm>
            <a:off x="3931920" y="4526280"/>
            <a:ext cx="369554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8" name="ponto-234"/>
          <p:cNvSpPr/>
          <p:nvPr/>
        </p:nvSpPr>
        <p:spPr>
          <a:xfrm>
            <a:off x="4160520" y="4754880"/>
            <a:ext cx="502920" cy="50292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39" name="icone-23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0" y="4880610"/>
            <a:ext cx="251460" cy="251460"/>
          </a:xfrm>
          <a:prstGeom prst="rect">
            <a:avLst/>
          </a:prstGeom>
        </p:spPr>
      </p:pic>
      <p:sp>
        <p:nvSpPr>
          <p:cNvPr id="40" name="texto-236"/>
          <p:cNvSpPr txBox="1"/>
          <p:nvPr/>
        </p:nvSpPr>
        <p:spPr>
          <a:xfrm>
            <a:off x="4800600" y="4727448"/>
            <a:ext cx="2689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Nada fica por enviar</a:t>
            </a:r>
            <a:endParaRPr lang="en-US" sz="1500" dirty="0"/>
          </a:p>
        </p:txBody>
      </p:sp>
      <p:sp>
        <p:nvSpPr>
          <p:cNvPr id="41" name="texto-237"/>
          <p:cNvSpPr txBox="1"/>
          <p:nvPr/>
        </p:nvSpPr>
        <p:spPr>
          <a:xfrm>
            <a:off x="4800600" y="5074920"/>
            <a:ext cx="2643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Ecrã de envios falhados, com reenvio</a:t>
            </a:r>
            <a:endParaRPr lang="en-US" sz="1200" dirty="0"/>
          </a:p>
        </p:txBody>
      </p:sp>
      <p:sp>
        <p:nvSpPr>
          <p:cNvPr id="42" name="cartao-238"/>
          <p:cNvSpPr/>
          <p:nvPr/>
        </p:nvSpPr>
        <p:spPr>
          <a:xfrm>
            <a:off x="7901788" y="4526280"/>
            <a:ext cx="369554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43" name="ponto-239"/>
          <p:cNvSpPr/>
          <p:nvPr/>
        </p:nvSpPr>
        <p:spPr>
          <a:xfrm>
            <a:off x="8130388" y="4754880"/>
            <a:ext cx="502920" cy="50292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44" name="icone-24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56118" y="4880610"/>
            <a:ext cx="251460" cy="251460"/>
          </a:xfrm>
          <a:prstGeom prst="rect">
            <a:avLst/>
          </a:prstGeom>
        </p:spPr>
      </p:pic>
      <p:sp>
        <p:nvSpPr>
          <p:cNvPr id="45" name="texto-241"/>
          <p:cNvSpPr txBox="1"/>
          <p:nvPr/>
        </p:nvSpPr>
        <p:spPr>
          <a:xfrm>
            <a:off x="8770468" y="4727448"/>
            <a:ext cx="26897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No site da Mudelar</a:t>
            </a:r>
            <a:endParaRPr lang="en-US" sz="1500" dirty="0"/>
          </a:p>
        </p:txBody>
      </p:sp>
      <p:sp>
        <p:nvSpPr>
          <p:cNvPr id="46" name="texto-242"/>
          <p:cNvSpPr txBox="1"/>
          <p:nvPr/>
        </p:nvSpPr>
        <p:spPr>
          <a:xfrm>
            <a:off x="8770468" y="5074920"/>
            <a:ext cx="264398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Formulário e marcação embebidos na página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243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DO ORÇAMENTO AO CONTRATO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Documentos que não mudam depois de enviados</a:t>
            </a:r>
            <a:endParaRPr lang="en-US" sz="3000" dirty="0"/>
          </a:p>
        </p:txBody>
      </p:sp>
      <p:sp>
        <p:nvSpPr>
          <p:cNvPr id="4" name="rret-244"/>
          <p:cNvSpPr/>
          <p:nvPr/>
        </p:nvSpPr>
        <p:spPr>
          <a:xfrm>
            <a:off x="777240" y="1783080"/>
            <a:ext cx="2743200" cy="35661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5" name="texto-245"/>
          <p:cNvSpPr txBox="1"/>
          <p:nvPr/>
        </p:nvSpPr>
        <p:spPr>
          <a:xfrm>
            <a:off x="100584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A"/>
                </a:solidFill>
              </a:rPr>
              <a:t>ORÇAMENTO</a:t>
            </a:r>
            <a:endParaRPr lang="en-US" sz="1000" dirty="0"/>
          </a:p>
        </p:txBody>
      </p:sp>
      <p:sp>
        <p:nvSpPr>
          <p:cNvPr id="6" name="ret-246"/>
          <p:cNvSpPr/>
          <p:nvPr/>
        </p:nvSpPr>
        <p:spPr>
          <a:xfrm>
            <a:off x="1005840" y="2423160"/>
            <a:ext cx="228600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7" name="ret-247"/>
          <p:cNvSpPr/>
          <p:nvPr/>
        </p:nvSpPr>
        <p:spPr>
          <a:xfrm>
            <a:off x="1005840" y="2679192"/>
            <a:ext cx="173736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8" name="ret-248"/>
          <p:cNvSpPr/>
          <p:nvPr/>
        </p:nvSpPr>
        <p:spPr>
          <a:xfrm>
            <a:off x="1005840" y="2935224"/>
            <a:ext cx="228600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9" name="ret-249"/>
          <p:cNvSpPr/>
          <p:nvPr/>
        </p:nvSpPr>
        <p:spPr>
          <a:xfrm>
            <a:off x="1005840" y="3191256"/>
            <a:ext cx="173736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10" name="ret-250"/>
          <p:cNvSpPr/>
          <p:nvPr/>
        </p:nvSpPr>
        <p:spPr>
          <a:xfrm>
            <a:off x="1005840" y="3447288"/>
            <a:ext cx="228600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11" name="rret-251"/>
          <p:cNvSpPr/>
          <p:nvPr/>
        </p:nvSpPr>
        <p:spPr>
          <a:xfrm>
            <a:off x="2377440" y="198424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6E6A64"/>
          </a:solidFill>
          <a:ln w="6350">
            <a:solidFill>
              <a:srgbClr val="6E6A64"/>
            </a:solidFill>
            <a:prstDash val="solid"/>
          </a:ln>
        </p:spPr>
      </p:sp>
      <p:sp>
        <p:nvSpPr>
          <p:cNvPr id="12" name="texto-252"/>
          <p:cNvSpPr txBox="1"/>
          <p:nvPr/>
        </p:nvSpPr>
        <p:spPr>
          <a:xfrm>
            <a:off x="2377440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Rascunho</a:t>
            </a:r>
            <a:endParaRPr lang="en-US" sz="900" dirty="0"/>
          </a:p>
        </p:txBody>
      </p:sp>
      <p:sp>
        <p:nvSpPr>
          <p:cNvPr id="13" name="rret-253"/>
          <p:cNvSpPr/>
          <p:nvPr/>
        </p:nvSpPr>
        <p:spPr>
          <a:xfrm>
            <a:off x="1280160" y="2148840"/>
            <a:ext cx="2743200" cy="35661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14" name="texto-254"/>
          <p:cNvSpPr txBox="1"/>
          <p:nvPr/>
        </p:nvSpPr>
        <p:spPr>
          <a:xfrm>
            <a:off x="1508760" y="2377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A"/>
                </a:solidFill>
              </a:rPr>
              <a:t>PROPOSTA</a:t>
            </a:r>
            <a:endParaRPr lang="en-US" sz="1000" dirty="0"/>
          </a:p>
        </p:txBody>
      </p:sp>
      <p:sp>
        <p:nvSpPr>
          <p:cNvPr id="15" name="ret-255"/>
          <p:cNvSpPr/>
          <p:nvPr/>
        </p:nvSpPr>
        <p:spPr>
          <a:xfrm>
            <a:off x="1508760" y="2788920"/>
            <a:ext cx="228600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16" name="ret-256"/>
          <p:cNvSpPr/>
          <p:nvPr/>
        </p:nvSpPr>
        <p:spPr>
          <a:xfrm>
            <a:off x="1508760" y="3044952"/>
            <a:ext cx="173736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17" name="ret-257"/>
          <p:cNvSpPr/>
          <p:nvPr/>
        </p:nvSpPr>
        <p:spPr>
          <a:xfrm>
            <a:off x="1508760" y="3300984"/>
            <a:ext cx="228600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18" name="ret-258"/>
          <p:cNvSpPr/>
          <p:nvPr/>
        </p:nvSpPr>
        <p:spPr>
          <a:xfrm>
            <a:off x="1508760" y="3557016"/>
            <a:ext cx="173736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19" name="ret-259"/>
          <p:cNvSpPr/>
          <p:nvPr/>
        </p:nvSpPr>
        <p:spPr>
          <a:xfrm>
            <a:off x="1508760" y="3813048"/>
            <a:ext cx="228600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20" name="rret-260"/>
          <p:cNvSpPr/>
          <p:nvPr/>
        </p:nvSpPr>
        <p:spPr>
          <a:xfrm>
            <a:off x="2880360" y="235000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6F86FF"/>
          </a:solidFill>
          <a:ln w="6350">
            <a:solidFill>
              <a:srgbClr val="6F86FF"/>
            </a:solidFill>
            <a:prstDash val="solid"/>
          </a:ln>
        </p:spPr>
      </p:sp>
      <p:sp>
        <p:nvSpPr>
          <p:cNvPr id="21" name="texto-261"/>
          <p:cNvSpPr txBox="1"/>
          <p:nvPr/>
        </p:nvSpPr>
        <p:spPr>
          <a:xfrm>
            <a:off x="2880360" y="235000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Enviada</a:t>
            </a:r>
            <a:endParaRPr lang="en-US" sz="900" dirty="0"/>
          </a:p>
        </p:txBody>
      </p:sp>
      <p:sp>
        <p:nvSpPr>
          <p:cNvPr id="22" name="rret-262"/>
          <p:cNvSpPr/>
          <p:nvPr/>
        </p:nvSpPr>
        <p:spPr>
          <a:xfrm>
            <a:off x="1783080" y="2514600"/>
            <a:ext cx="2743200" cy="356616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23" name="texto-263"/>
          <p:cNvSpPr txBox="1"/>
          <p:nvPr/>
        </p:nvSpPr>
        <p:spPr>
          <a:xfrm>
            <a:off x="2011680" y="2743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3A3A3A"/>
                </a:solidFill>
              </a:rPr>
              <a:t>CONTRATO</a:t>
            </a:r>
            <a:endParaRPr lang="en-US" sz="1000" dirty="0"/>
          </a:p>
        </p:txBody>
      </p:sp>
      <p:sp>
        <p:nvSpPr>
          <p:cNvPr id="24" name="ret-264"/>
          <p:cNvSpPr/>
          <p:nvPr/>
        </p:nvSpPr>
        <p:spPr>
          <a:xfrm>
            <a:off x="2011680" y="3154680"/>
            <a:ext cx="228600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25" name="ret-265"/>
          <p:cNvSpPr/>
          <p:nvPr/>
        </p:nvSpPr>
        <p:spPr>
          <a:xfrm>
            <a:off x="2011680" y="3410712"/>
            <a:ext cx="173736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26" name="ret-266"/>
          <p:cNvSpPr/>
          <p:nvPr/>
        </p:nvSpPr>
        <p:spPr>
          <a:xfrm>
            <a:off x="2011680" y="3666744"/>
            <a:ext cx="228600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27" name="ret-267"/>
          <p:cNvSpPr/>
          <p:nvPr/>
        </p:nvSpPr>
        <p:spPr>
          <a:xfrm>
            <a:off x="2011680" y="3922776"/>
            <a:ext cx="173736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28" name="ret-268"/>
          <p:cNvSpPr/>
          <p:nvPr/>
        </p:nvSpPr>
        <p:spPr>
          <a:xfrm>
            <a:off x="2011680" y="4178808"/>
            <a:ext cx="2286000" cy="73152"/>
          </a:xfrm>
          <a:prstGeom prst="rect">
            <a:avLst/>
          </a:prstGeom>
          <a:solidFill>
            <a:srgbClr val="E2DED7"/>
          </a:solidFill>
          <a:ln w="12700">
            <a:solidFill>
              <a:srgbClr val="E2DED7"/>
            </a:solidFill>
            <a:prstDash val="solid"/>
          </a:ln>
        </p:spPr>
      </p:sp>
      <p:sp>
        <p:nvSpPr>
          <p:cNvPr id="29" name="linha-269"/>
          <p:cNvSpPr/>
          <p:nvPr/>
        </p:nvSpPr>
        <p:spPr>
          <a:xfrm>
            <a:off x="2011680" y="5440680"/>
            <a:ext cx="14630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30" name="texto-270"/>
          <p:cNvSpPr txBox="1"/>
          <p:nvPr/>
        </p:nvSpPr>
        <p:spPr>
          <a:xfrm>
            <a:off x="2011680" y="551383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E6A64"/>
                </a:solidFill>
              </a:rPr>
              <a:t>Assinatura do cliente</a:t>
            </a:r>
            <a:endParaRPr lang="en-US" sz="700" dirty="0"/>
          </a:p>
        </p:txBody>
      </p:sp>
      <p:sp>
        <p:nvSpPr>
          <p:cNvPr id="31" name="rret-271"/>
          <p:cNvSpPr/>
          <p:nvPr/>
        </p:nvSpPr>
        <p:spPr>
          <a:xfrm>
            <a:off x="3383280" y="2715768"/>
            <a:ext cx="914400" cy="237744"/>
          </a:xfrm>
          <a:prstGeom prst="roundRect">
            <a:avLst>
              <a:gd name="adj" fmla="val 50000"/>
            </a:avLst>
          </a:prstGeom>
          <a:solidFill>
            <a:srgbClr val="81CEBA"/>
          </a:solidFill>
          <a:ln w="6350">
            <a:solidFill>
              <a:srgbClr val="81CEBA"/>
            </a:solidFill>
            <a:prstDash val="solid"/>
          </a:ln>
        </p:spPr>
      </p:sp>
      <p:sp>
        <p:nvSpPr>
          <p:cNvPr id="32" name="texto-272"/>
          <p:cNvSpPr txBox="1"/>
          <p:nvPr/>
        </p:nvSpPr>
        <p:spPr>
          <a:xfrm>
            <a:off x="3383280" y="27157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</a:rPr>
              <a:t>Assinado</a:t>
            </a:r>
            <a:endParaRPr lang="en-US" sz="900" dirty="0"/>
          </a:p>
        </p:txBody>
      </p:sp>
      <p:sp>
        <p:nvSpPr>
          <p:cNvPr id="33" name="texto-273"/>
          <p:cNvSpPr txBox="1"/>
          <p:nvPr/>
        </p:nvSpPr>
        <p:spPr>
          <a:xfrm>
            <a:off x="5074920" y="1737360"/>
            <a:ext cx="312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Orçamentos</a:t>
            </a:r>
            <a:endParaRPr lang="en-US" sz="1800" dirty="0"/>
          </a:p>
        </p:txBody>
      </p:sp>
      <p:sp>
        <p:nvSpPr>
          <p:cNvPr id="34" name="texto-274"/>
          <p:cNvSpPr txBox="1"/>
          <p:nvPr/>
        </p:nvSpPr>
        <p:spPr>
          <a:xfrm>
            <a:off x="5074920" y="2240280"/>
            <a:ext cx="31240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Ficha técnica de cada serviço: mão de obra e materiais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Margens visíveis só a quem tem permissão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Preço definido à mão não é recalculado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Morada fiscal e morada do serviço no PDF</a:t>
            </a:r>
            <a:endParaRPr lang="en-US" sz="1300" dirty="0"/>
          </a:p>
        </p:txBody>
      </p:sp>
      <p:sp>
        <p:nvSpPr>
          <p:cNvPr id="35" name="texto-275"/>
          <p:cNvSpPr txBox="1"/>
          <p:nvPr/>
        </p:nvSpPr>
        <p:spPr>
          <a:xfrm>
            <a:off x="8473288" y="1737360"/>
            <a:ext cx="312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Propostas e contratos</a:t>
            </a:r>
            <a:endParaRPr lang="en-US" sz="1800" dirty="0"/>
          </a:p>
        </p:txBody>
      </p:sp>
      <p:sp>
        <p:nvSpPr>
          <p:cNvPr id="36" name="texto-276"/>
          <p:cNvSpPr txBox="1"/>
          <p:nvPr/>
        </p:nvSpPr>
        <p:spPr>
          <a:xfrm>
            <a:off x="8473288" y="2240280"/>
            <a:ext cx="312404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Numeração automática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Acrescentar orçamentos a uma proposta enviada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Contrato assinado fica congelado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Ao assinar: stock abatido e pedido ao fornecedor</a:t>
            </a:r>
            <a:endParaRPr lang="en-US" sz="1300" dirty="0"/>
          </a:p>
        </p:txBody>
      </p:sp>
      <p:sp>
        <p:nvSpPr>
          <p:cNvPr id="37" name="cartao-277"/>
          <p:cNvSpPr/>
          <p:nvPr/>
        </p:nvSpPr>
        <p:spPr>
          <a:xfrm>
            <a:off x="5074920" y="4572000"/>
            <a:ext cx="6522415" cy="1463040"/>
          </a:xfrm>
          <a:prstGeom prst="roundRect">
            <a:avLst>
              <a:gd name="adj" fmla="val 6250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8" name="ponto-278"/>
          <p:cNvSpPr/>
          <p:nvPr/>
        </p:nvSpPr>
        <p:spPr>
          <a:xfrm>
            <a:off x="5349240" y="4846320"/>
            <a:ext cx="548640" cy="548640"/>
          </a:xfrm>
          <a:prstGeom prst="ellipse">
            <a:avLst/>
          </a:prstGeom>
          <a:solidFill>
            <a:srgbClr val="A07BF2"/>
          </a:solidFill>
          <a:ln w="12700">
            <a:solidFill>
              <a:srgbClr val="A07BF2"/>
            </a:solidFill>
            <a:prstDash val="solid"/>
          </a:ln>
        </p:spPr>
      </p:sp>
      <p:pic>
        <p:nvPicPr>
          <p:cNvPr id="39" name="icone-279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4983480"/>
            <a:ext cx="274320" cy="274320"/>
          </a:xfrm>
          <a:prstGeom prst="rect">
            <a:avLst/>
          </a:prstGeom>
        </p:spPr>
      </p:pic>
      <p:sp>
        <p:nvSpPr>
          <p:cNvPr id="40" name="texto-280"/>
          <p:cNvSpPr txBox="1"/>
          <p:nvPr/>
        </p:nvSpPr>
        <p:spPr>
          <a:xfrm>
            <a:off x="6126480" y="4773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 do cliente</a:t>
            </a:r>
            <a:endParaRPr lang="en-US" sz="1600" dirty="0"/>
          </a:p>
        </p:txBody>
      </p:sp>
      <p:sp>
        <p:nvSpPr>
          <p:cNvPr id="41" name="texto-281"/>
          <p:cNvSpPr txBox="1"/>
          <p:nvPr/>
        </p:nvSpPr>
        <p:spPr>
          <a:xfrm>
            <a:off x="6126480" y="5120640"/>
            <a:ext cx="52422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O cliente assina ou rejeita propostas e contratos, descarrega os PDF e o processo avança sozinho. Uma conta pode ter várias empresas.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28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LEVANTAMENTO NA VISITA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casa descrita em campos fechados, não em texto livre</a:t>
            </a:r>
            <a:endParaRPr lang="en-US" sz="3000" dirty="0"/>
          </a:p>
        </p:txBody>
      </p:sp>
      <p:sp>
        <p:nvSpPr>
          <p:cNvPr id="4" name="cartao-283"/>
          <p:cNvSpPr/>
          <p:nvPr/>
        </p:nvSpPr>
        <p:spPr>
          <a:xfrm>
            <a:off x="594360" y="1691640"/>
            <a:ext cx="3484778" cy="3657600"/>
          </a:xfrm>
          <a:prstGeom prst="roundRect">
            <a:avLst>
              <a:gd name="adj" fmla="val 262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5" name="texto-284"/>
          <p:cNvSpPr txBox="1"/>
          <p:nvPr/>
        </p:nvSpPr>
        <p:spPr>
          <a:xfrm>
            <a:off x="868680" y="1874520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86FF"/>
                </a:solidFill>
              </a:rPr>
              <a:t>EXTERIOR</a:t>
            </a:r>
            <a:endParaRPr lang="en-US" sz="1100" dirty="0"/>
          </a:p>
        </p:txBody>
      </p:sp>
      <p:sp>
        <p:nvSpPr>
          <p:cNvPr id="6" name="texto-285"/>
          <p:cNvSpPr txBox="1"/>
          <p:nvPr/>
        </p:nvSpPr>
        <p:spPr>
          <a:xfrm>
            <a:off x="868680" y="214884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O edifício e os acessos</a:t>
            </a:r>
            <a:endParaRPr lang="en-US" sz="1300" dirty="0"/>
          </a:p>
        </p:txBody>
      </p:sp>
      <p:sp>
        <p:nvSpPr>
          <p:cNvPr id="7" name="texto-286"/>
          <p:cNvSpPr txBox="1"/>
          <p:nvPr/>
        </p:nvSpPr>
        <p:spPr>
          <a:xfrm>
            <a:off x="868680" y="2606040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Acesso</a:t>
            </a:r>
            <a:endParaRPr lang="en-US" sz="1100" dirty="0"/>
          </a:p>
        </p:txBody>
      </p:sp>
      <p:sp>
        <p:nvSpPr>
          <p:cNvPr id="8" name="rret-287"/>
          <p:cNvSpPr/>
          <p:nvPr/>
        </p:nvSpPr>
        <p:spPr>
          <a:xfrm>
            <a:off x="868680" y="2862072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6F86FF"/>
          </a:solidFill>
          <a:ln w="6350">
            <a:solidFill>
              <a:srgbClr val="6F86FF"/>
            </a:solidFill>
            <a:prstDash val="solid"/>
          </a:ln>
        </p:spPr>
      </p:sp>
      <p:sp>
        <p:nvSpPr>
          <p:cNvPr id="9" name="texto-288"/>
          <p:cNvSpPr txBox="1"/>
          <p:nvPr/>
        </p:nvSpPr>
        <p:spPr>
          <a:xfrm>
            <a:off x="868680" y="2862072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Fácil</a:t>
            </a:r>
            <a:endParaRPr lang="en-US" sz="1000" dirty="0"/>
          </a:p>
        </p:txBody>
      </p:sp>
      <p:sp>
        <p:nvSpPr>
          <p:cNvPr id="10" name="rret-289"/>
          <p:cNvSpPr/>
          <p:nvPr/>
        </p:nvSpPr>
        <p:spPr>
          <a:xfrm>
            <a:off x="1604772" y="2862072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1" name="texto-290"/>
          <p:cNvSpPr txBox="1"/>
          <p:nvPr/>
        </p:nvSpPr>
        <p:spPr>
          <a:xfrm>
            <a:off x="1604772" y="2862072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Difícil</a:t>
            </a:r>
            <a:endParaRPr lang="en-US" sz="1000" dirty="0"/>
          </a:p>
        </p:txBody>
      </p:sp>
      <p:sp>
        <p:nvSpPr>
          <p:cNvPr id="12" name="texto-291"/>
          <p:cNvSpPr txBox="1"/>
          <p:nvPr/>
        </p:nvSpPr>
        <p:spPr>
          <a:xfrm>
            <a:off x="868680" y="3264408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Estacionamento</a:t>
            </a:r>
            <a:endParaRPr lang="en-US" sz="1100" dirty="0"/>
          </a:p>
        </p:txBody>
      </p:sp>
      <p:sp>
        <p:nvSpPr>
          <p:cNvPr id="13" name="rret-292"/>
          <p:cNvSpPr/>
          <p:nvPr/>
        </p:nvSpPr>
        <p:spPr>
          <a:xfrm>
            <a:off x="868680" y="3520440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6F86FF"/>
          </a:solidFill>
          <a:ln w="6350">
            <a:solidFill>
              <a:srgbClr val="6F86FF"/>
            </a:solidFill>
            <a:prstDash val="solid"/>
          </a:ln>
        </p:spPr>
      </p:sp>
      <p:sp>
        <p:nvSpPr>
          <p:cNvPr id="14" name="texto-293"/>
          <p:cNvSpPr txBox="1"/>
          <p:nvPr/>
        </p:nvSpPr>
        <p:spPr>
          <a:xfrm>
            <a:off x="868680" y="3520440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Pago</a:t>
            </a:r>
            <a:endParaRPr lang="en-US" sz="1000" dirty="0"/>
          </a:p>
        </p:txBody>
      </p:sp>
      <p:sp>
        <p:nvSpPr>
          <p:cNvPr id="15" name="rret-294"/>
          <p:cNvSpPr/>
          <p:nvPr/>
        </p:nvSpPr>
        <p:spPr>
          <a:xfrm>
            <a:off x="1527048" y="3520440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6" name="texto-295"/>
          <p:cNvSpPr txBox="1"/>
          <p:nvPr/>
        </p:nvSpPr>
        <p:spPr>
          <a:xfrm>
            <a:off x="1527048" y="3520440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Grátis</a:t>
            </a:r>
            <a:endParaRPr lang="en-US" sz="1000" dirty="0"/>
          </a:p>
        </p:txBody>
      </p:sp>
      <p:sp>
        <p:nvSpPr>
          <p:cNvPr id="17" name="rret-296"/>
          <p:cNvSpPr/>
          <p:nvPr/>
        </p:nvSpPr>
        <p:spPr>
          <a:xfrm>
            <a:off x="2340864" y="352044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18" name="texto-297"/>
          <p:cNvSpPr txBox="1"/>
          <p:nvPr/>
        </p:nvSpPr>
        <p:spPr>
          <a:xfrm>
            <a:off x="2340864" y="3520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Sem</a:t>
            </a:r>
            <a:endParaRPr lang="en-US" sz="1000" dirty="0"/>
          </a:p>
        </p:txBody>
      </p:sp>
      <p:sp>
        <p:nvSpPr>
          <p:cNvPr id="19" name="texto-298"/>
          <p:cNvSpPr txBox="1"/>
          <p:nvPr/>
        </p:nvSpPr>
        <p:spPr>
          <a:xfrm>
            <a:off x="868680" y="3922776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Elevador</a:t>
            </a:r>
            <a:endParaRPr lang="en-US" sz="1100" dirty="0"/>
          </a:p>
        </p:txBody>
      </p:sp>
      <p:sp>
        <p:nvSpPr>
          <p:cNvPr id="20" name="rret-299"/>
          <p:cNvSpPr/>
          <p:nvPr/>
        </p:nvSpPr>
        <p:spPr>
          <a:xfrm>
            <a:off x="868680" y="417880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6F86FF"/>
          </a:solidFill>
          <a:ln w="6350">
            <a:solidFill>
              <a:srgbClr val="6F86FF"/>
            </a:solidFill>
            <a:prstDash val="solid"/>
          </a:ln>
        </p:spPr>
      </p:sp>
      <p:sp>
        <p:nvSpPr>
          <p:cNvPr id="21" name="texto-300"/>
          <p:cNvSpPr txBox="1"/>
          <p:nvPr/>
        </p:nvSpPr>
        <p:spPr>
          <a:xfrm>
            <a:off x="868680" y="41788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Sim</a:t>
            </a:r>
            <a:endParaRPr lang="en-US" sz="1000" dirty="0"/>
          </a:p>
        </p:txBody>
      </p:sp>
      <p:sp>
        <p:nvSpPr>
          <p:cNvPr id="22" name="rret-301"/>
          <p:cNvSpPr/>
          <p:nvPr/>
        </p:nvSpPr>
        <p:spPr>
          <a:xfrm>
            <a:off x="1508760" y="417880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23" name="texto-302"/>
          <p:cNvSpPr txBox="1"/>
          <p:nvPr/>
        </p:nvSpPr>
        <p:spPr>
          <a:xfrm>
            <a:off x="1508760" y="41788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Não</a:t>
            </a:r>
            <a:endParaRPr lang="en-US" sz="1000" dirty="0"/>
          </a:p>
        </p:txBody>
      </p:sp>
      <p:sp>
        <p:nvSpPr>
          <p:cNvPr id="24" name="texto-303"/>
          <p:cNvSpPr txBox="1"/>
          <p:nvPr/>
        </p:nvSpPr>
        <p:spPr>
          <a:xfrm>
            <a:off x="868680" y="4581144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Andar</a:t>
            </a:r>
            <a:endParaRPr lang="en-US" sz="1100" dirty="0"/>
          </a:p>
        </p:txBody>
      </p:sp>
      <p:sp>
        <p:nvSpPr>
          <p:cNvPr id="25" name="rret-304"/>
          <p:cNvSpPr/>
          <p:nvPr/>
        </p:nvSpPr>
        <p:spPr>
          <a:xfrm>
            <a:off x="868680" y="4837176"/>
            <a:ext cx="896112" cy="274320"/>
          </a:xfrm>
          <a:prstGeom prst="roundRect">
            <a:avLst>
              <a:gd name="adj" fmla="val 50000"/>
            </a:avLst>
          </a:prstGeom>
          <a:solidFill>
            <a:srgbClr val="6F86FF"/>
          </a:solidFill>
          <a:ln w="6350">
            <a:solidFill>
              <a:srgbClr val="6F86FF"/>
            </a:solidFill>
            <a:prstDash val="solid"/>
          </a:ln>
        </p:spPr>
      </p:sp>
      <p:sp>
        <p:nvSpPr>
          <p:cNvPr id="26" name="texto-305"/>
          <p:cNvSpPr txBox="1"/>
          <p:nvPr/>
        </p:nvSpPr>
        <p:spPr>
          <a:xfrm>
            <a:off x="868680" y="4837176"/>
            <a:ext cx="896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3.º de 5</a:t>
            </a:r>
            <a:endParaRPr lang="en-US" sz="1000" dirty="0"/>
          </a:p>
        </p:txBody>
      </p:sp>
      <p:sp>
        <p:nvSpPr>
          <p:cNvPr id="27" name="cartao-306"/>
          <p:cNvSpPr/>
          <p:nvPr/>
        </p:nvSpPr>
        <p:spPr>
          <a:xfrm>
            <a:off x="4353458" y="1691640"/>
            <a:ext cx="3484778" cy="3657600"/>
          </a:xfrm>
          <a:prstGeom prst="roundRect">
            <a:avLst>
              <a:gd name="adj" fmla="val 262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8" name="texto-307"/>
          <p:cNvSpPr txBox="1"/>
          <p:nvPr/>
        </p:nvSpPr>
        <p:spPr>
          <a:xfrm>
            <a:off x="4627778" y="1874520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07BF2"/>
                </a:solidFill>
              </a:rPr>
              <a:t>INTERIOR</a:t>
            </a:r>
            <a:endParaRPr lang="en-US" sz="1100" dirty="0"/>
          </a:p>
        </p:txBody>
      </p:sp>
      <p:sp>
        <p:nvSpPr>
          <p:cNvPr id="29" name="texto-308"/>
          <p:cNvSpPr txBox="1"/>
          <p:nvPr/>
        </p:nvSpPr>
        <p:spPr>
          <a:xfrm>
            <a:off x="4627778" y="214884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A casa</a:t>
            </a:r>
            <a:endParaRPr lang="en-US" sz="1300" dirty="0"/>
          </a:p>
        </p:txBody>
      </p:sp>
      <p:sp>
        <p:nvSpPr>
          <p:cNvPr id="30" name="texto-309"/>
          <p:cNvSpPr txBox="1"/>
          <p:nvPr/>
        </p:nvSpPr>
        <p:spPr>
          <a:xfrm>
            <a:off x="4627778" y="2606040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Tipologia</a:t>
            </a:r>
            <a:endParaRPr lang="en-US" sz="1100" dirty="0"/>
          </a:p>
        </p:txBody>
      </p:sp>
      <p:sp>
        <p:nvSpPr>
          <p:cNvPr id="31" name="rret-310"/>
          <p:cNvSpPr/>
          <p:nvPr/>
        </p:nvSpPr>
        <p:spPr>
          <a:xfrm>
            <a:off x="4627778" y="2862072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2" name="texto-311"/>
          <p:cNvSpPr txBox="1"/>
          <p:nvPr/>
        </p:nvSpPr>
        <p:spPr>
          <a:xfrm>
            <a:off x="4627778" y="28620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T2</a:t>
            </a:r>
            <a:endParaRPr lang="en-US" sz="1000" dirty="0"/>
          </a:p>
        </p:txBody>
      </p:sp>
      <p:sp>
        <p:nvSpPr>
          <p:cNvPr id="33" name="rret-312"/>
          <p:cNvSpPr/>
          <p:nvPr/>
        </p:nvSpPr>
        <p:spPr>
          <a:xfrm>
            <a:off x="5267858" y="2862072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A07BF2"/>
          </a:solidFill>
          <a:ln w="6350">
            <a:solidFill>
              <a:srgbClr val="A07BF2"/>
            </a:solidFill>
            <a:prstDash val="solid"/>
          </a:ln>
        </p:spPr>
      </p:sp>
      <p:sp>
        <p:nvSpPr>
          <p:cNvPr id="34" name="texto-313"/>
          <p:cNvSpPr txBox="1"/>
          <p:nvPr/>
        </p:nvSpPr>
        <p:spPr>
          <a:xfrm>
            <a:off x="5267858" y="28620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T3</a:t>
            </a:r>
            <a:endParaRPr lang="en-US" sz="1000" dirty="0"/>
          </a:p>
        </p:txBody>
      </p:sp>
      <p:sp>
        <p:nvSpPr>
          <p:cNvPr id="35" name="rret-314"/>
          <p:cNvSpPr/>
          <p:nvPr/>
        </p:nvSpPr>
        <p:spPr>
          <a:xfrm>
            <a:off x="5907938" y="2862072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36" name="texto-315"/>
          <p:cNvSpPr txBox="1"/>
          <p:nvPr/>
        </p:nvSpPr>
        <p:spPr>
          <a:xfrm>
            <a:off x="5907938" y="2862072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T4</a:t>
            </a:r>
            <a:endParaRPr lang="en-US" sz="1000" dirty="0"/>
          </a:p>
        </p:txBody>
      </p:sp>
      <p:sp>
        <p:nvSpPr>
          <p:cNvPr id="37" name="texto-316"/>
          <p:cNvSpPr txBox="1"/>
          <p:nvPr/>
        </p:nvSpPr>
        <p:spPr>
          <a:xfrm>
            <a:off x="4627778" y="3264408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Habitada na obra</a:t>
            </a:r>
            <a:endParaRPr lang="en-US" sz="1100" dirty="0"/>
          </a:p>
        </p:txBody>
      </p:sp>
      <p:sp>
        <p:nvSpPr>
          <p:cNvPr id="38" name="rret-317"/>
          <p:cNvSpPr/>
          <p:nvPr/>
        </p:nvSpPr>
        <p:spPr>
          <a:xfrm>
            <a:off x="4627778" y="352044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A07BF2"/>
          </a:solidFill>
          <a:ln w="6350">
            <a:solidFill>
              <a:srgbClr val="A07BF2"/>
            </a:solidFill>
            <a:prstDash val="solid"/>
          </a:ln>
        </p:spPr>
      </p:sp>
      <p:sp>
        <p:nvSpPr>
          <p:cNvPr id="39" name="texto-318"/>
          <p:cNvSpPr txBox="1"/>
          <p:nvPr/>
        </p:nvSpPr>
        <p:spPr>
          <a:xfrm>
            <a:off x="4627778" y="3520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Sim</a:t>
            </a:r>
            <a:endParaRPr lang="en-US" sz="1000" dirty="0"/>
          </a:p>
        </p:txBody>
      </p:sp>
      <p:sp>
        <p:nvSpPr>
          <p:cNvPr id="40" name="rret-319"/>
          <p:cNvSpPr/>
          <p:nvPr/>
        </p:nvSpPr>
        <p:spPr>
          <a:xfrm>
            <a:off x="5267858" y="3520440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1" name="texto-320"/>
          <p:cNvSpPr txBox="1"/>
          <p:nvPr/>
        </p:nvSpPr>
        <p:spPr>
          <a:xfrm>
            <a:off x="5267858" y="3520440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Não</a:t>
            </a:r>
            <a:endParaRPr lang="en-US" sz="1000" dirty="0"/>
          </a:p>
        </p:txBody>
      </p:sp>
      <p:sp>
        <p:nvSpPr>
          <p:cNvPr id="42" name="texto-321"/>
          <p:cNvSpPr txBox="1"/>
          <p:nvPr/>
        </p:nvSpPr>
        <p:spPr>
          <a:xfrm>
            <a:off x="4627778" y="3922776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Canalização</a:t>
            </a:r>
            <a:endParaRPr lang="en-US" sz="1100" dirty="0"/>
          </a:p>
        </p:txBody>
      </p:sp>
      <p:sp>
        <p:nvSpPr>
          <p:cNvPr id="43" name="rret-322"/>
          <p:cNvSpPr/>
          <p:nvPr/>
        </p:nvSpPr>
        <p:spPr>
          <a:xfrm>
            <a:off x="4627778" y="4178808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A07BF2"/>
          </a:solidFill>
          <a:ln w="6350">
            <a:solidFill>
              <a:srgbClr val="A07BF2"/>
            </a:solidFill>
            <a:prstDash val="solid"/>
          </a:ln>
        </p:spPr>
      </p:sp>
      <p:sp>
        <p:nvSpPr>
          <p:cNvPr id="44" name="texto-323"/>
          <p:cNvSpPr txBox="1"/>
          <p:nvPr/>
        </p:nvSpPr>
        <p:spPr>
          <a:xfrm>
            <a:off x="4627778" y="4178808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Ferro</a:t>
            </a:r>
            <a:endParaRPr lang="en-US" sz="1000" dirty="0"/>
          </a:p>
        </p:txBody>
      </p:sp>
      <p:sp>
        <p:nvSpPr>
          <p:cNvPr id="45" name="rret-324"/>
          <p:cNvSpPr/>
          <p:nvPr/>
        </p:nvSpPr>
        <p:spPr>
          <a:xfrm>
            <a:off x="5363870" y="4178808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6" name="texto-325"/>
          <p:cNvSpPr txBox="1"/>
          <p:nvPr/>
        </p:nvSpPr>
        <p:spPr>
          <a:xfrm>
            <a:off x="5363870" y="4178808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PVC</a:t>
            </a:r>
            <a:endParaRPr lang="en-US" sz="1000" dirty="0"/>
          </a:p>
        </p:txBody>
      </p:sp>
      <p:sp>
        <p:nvSpPr>
          <p:cNvPr id="47" name="rret-326"/>
          <p:cNvSpPr/>
          <p:nvPr/>
        </p:nvSpPr>
        <p:spPr>
          <a:xfrm>
            <a:off x="6003950" y="4178808"/>
            <a:ext cx="973836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48" name="texto-327"/>
          <p:cNvSpPr txBox="1"/>
          <p:nvPr/>
        </p:nvSpPr>
        <p:spPr>
          <a:xfrm>
            <a:off x="6003950" y="4178808"/>
            <a:ext cx="9738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Multicam.</a:t>
            </a:r>
            <a:endParaRPr lang="en-US" sz="1000" dirty="0"/>
          </a:p>
        </p:txBody>
      </p:sp>
      <p:sp>
        <p:nvSpPr>
          <p:cNvPr id="49" name="texto-328"/>
          <p:cNvSpPr txBox="1"/>
          <p:nvPr/>
        </p:nvSpPr>
        <p:spPr>
          <a:xfrm>
            <a:off x="4627778" y="4581144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Amianto</a:t>
            </a:r>
            <a:endParaRPr lang="en-US" sz="1100" dirty="0"/>
          </a:p>
        </p:txBody>
      </p:sp>
      <p:sp>
        <p:nvSpPr>
          <p:cNvPr id="50" name="rret-329"/>
          <p:cNvSpPr/>
          <p:nvPr/>
        </p:nvSpPr>
        <p:spPr>
          <a:xfrm>
            <a:off x="4627778" y="483717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1" name="texto-330"/>
          <p:cNvSpPr txBox="1"/>
          <p:nvPr/>
        </p:nvSpPr>
        <p:spPr>
          <a:xfrm>
            <a:off x="4627778" y="48371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Sim</a:t>
            </a:r>
            <a:endParaRPr lang="en-US" sz="1000" dirty="0"/>
          </a:p>
        </p:txBody>
      </p:sp>
      <p:sp>
        <p:nvSpPr>
          <p:cNvPr id="52" name="rret-331"/>
          <p:cNvSpPr/>
          <p:nvPr/>
        </p:nvSpPr>
        <p:spPr>
          <a:xfrm>
            <a:off x="5267858" y="483717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A07BF2"/>
          </a:solidFill>
          <a:ln w="6350">
            <a:solidFill>
              <a:srgbClr val="A07BF2"/>
            </a:solidFill>
            <a:prstDash val="solid"/>
          </a:ln>
        </p:spPr>
      </p:sp>
      <p:sp>
        <p:nvSpPr>
          <p:cNvPr id="53" name="texto-332"/>
          <p:cNvSpPr txBox="1"/>
          <p:nvPr/>
        </p:nvSpPr>
        <p:spPr>
          <a:xfrm>
            <a:off x="5267858" y="48371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Não</a:t>
            </a:r>
            <a:endParaRPr lang="en-US" sz="1000" dirty="0"/>
          </a:p>
        </p:txBody>
      </p:sp>
      <p:sp>
        <p:nvSpPr>
          <p:cNvPr id="54" name="rret-333"/>
          <p:cNvSpPr/>
          <p:nvPr/>
        </p:nvSpPr>
        <p:spPr>
          <a:xfrm>
            <a:off x="5907938" y="4837176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55" name="texto-334"/>
          <p:cNvSpPr txBox="1"/>
          <p:nvPr/>
        </p:nvSpPr>
        <p:spPr>
          <a:xfrm>
            <a:off x="5907938" y="4837176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Não sei</a:t>
            </a:r>
            <a:endParaRPr lang="en-US" sz="1000" dirty="0"/>
          </a:p>
        </p:txBody>
      </p:sp>
      <p:sp>
        <p:nvSpPr>
          <p:cNvPr id="56" name="cartao-335"/>
          <p:cNvSpPr/>
          <p:nvPr/>
        </p:nvSpPr>
        <p:spPr>
          <a:xfrm>
            <a:off x="8112557" y="1691640"/>
            <a:ext cx="3484778" cy="3657600"/>
          </a:xfrm>
          <a:prstGeom prst="roundRect">
            <a:avLst>
              <a:gd name="adj" fmla="val 262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57" name="texto-336"/>
          <p:cNvSpPr txBox="1"/>
          <p:nvPr/>
        </p:nvSpPr>
        <p:spPr>
          <a:xfrm>
            <a:off x="8386877" y="1874520"/>
            <a:ext cx="293613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CEBA"/>
                </a:solidFill>
              </a:rPr>
              <a:t>ÁREA DE INTERVENÇÃO</a:t>
            </a:r>
            <a:endParaRPr lang="en-US" sz="1100" dirty="0"/>
          </a:p>
        </p:txBody>
      </p:sp>
      <p:sp>
        <p:nvSpPr>
          <p:cNvPr id="58" name="texto-337"/>
          <p:cNvSpPr txBox="1"/>
          <p:nvPr/>
        </p:nvSpPr>
        <p:spPr>
          <a:xfrm>
            <a:off x="8386877" y="214884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A casa de banho ou cozinha</a:t>
            </a:r>
            <a:endParaRPr lang="en-US" sz="1300" dirty="0"/>
          </a:p>
        </p:txBody>
      </p:sp>
      <p:sp>
        <p:nvSpPr>
          <p:cNvPr id="59" name="texto-338"/>
          <p:cNvSpPr txBox="1"/>
          <p:nvPr/>
        </p:nvSpPr>
        <p:spPr>
          <a:xfrm>
            <a:off x="8386877" y="2606040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Medidas</a:t>
            </a:r>
            <a:endParaRPr lang="en-US" sz="1100" dirty="0"/>
          </a:p>
        </p:txBody>
      </p:sp>
      <p:sp>
        <p:nvSpPr>
          <p:cNvPr id="60" name="rret-339"/>
          <p:cNvSpPr/>
          <p:nvPr/>
        </p:nvSpPr>
        <p:spPr>
          <a:xfrm>
            <a:off x="8386877" y="2862072"/>
            <a:ext cx="740664" cy="274320"/>
          </a:xfrm>
          <a:prstGeom prst="roundRect">
            <a:avLst>
              <a:gd name="adj" fmla="val 50000"/>
            </a:avLst>
          </a:prstGeom>
          <a:solidFill>
            <a:srgbClr val="81CEBA"/>
          </a:solidFill>
          <a:ln w="6350">
            <a:solidFill>
              <a:srgbClr val="81CEBA"/>
            </a:solidFill>
            <a:prstDash val="solid"/>
          </a:ln>
        </p:spPr>
      </p:sp>
      <p:sp>
        <p:nvSpPr>
          <p:cNvPr id="61" name="texto-340"/>
          <p:cNvSpPr txBox="1"/>
          <p:nvPr/>
        </p:nvSpPr>
        <p:spPr>
          <a:xfrm>
            <a:off x="8386877" y="2862072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6,2 m²</a:t>
            </a:r>
            <a:endParaRPr lang="en-US" sz="1000" dirty="0"/>
          </a:p>
        </p:txBody>
      </p:sp>
      <p:sp>
        <p:nvSpPr>
          <p:cNvPr id="62" name="rret-341"/>
          <p:cNvSpPr/>
          <p:nvPr/>
        </p:nvSpPr>
        <p:spPr>
          <a:xfrm>
            <a:off x="9200693" y="2862072"/>
            <a:ext cx="1129284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3" name="texto-342"/>
          <p:cNvSpPr txBox="1"/>
          <p:nvPr/>
        </p:nvSpPr>
        <p:spPr>
          <a:xfrm>
            <a:off x="9200693" y="2862072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perím. 10 m</a:t>
            </a:r>
            <a:endParaRPr lang="en-US" sz="1000" dirty="0"/>
          </a:p>
        </p:txBody>
      </p:sp>
      <p:sp>
        <p:nvSpPr>
          <p:cNvPr id="64" name="texto-343"/>
          <p:cNvSpPr txBox="1"/>
          <p:nvPr/>
        </p:nvSpPr>
        <p:spPr>
          <a:xfrm>
            <a:off x="8386877" y="3264408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Distância à entrada</a:t>
            </a:r>
            <a:endParaRPr lang="en-US" sz="1100" dirty="0"/>
          </a:p>
        </p:txBody>
      </p:sp>
      <p:sp>
        <p:nvSpPr>
          <p:cNvPr id="65" name="rret-344"/>
          <p:cNvSpPr/>
          <p:nvPr/>
        </p:nvSpPr>
        <p:spPr>
          <a:xfrm>
            <a:off x="8386877" y="3520440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66" name="texto-345"/>
          <p:cNvSpPr txBox="1"/>
          <p:nvPr/>
        </p:nvSpPr>
        <p:spPr>
          <a:xfrm>
            <a:off x="8386877" y="35204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Curta</a:t>
            </a:r>
            <a:endParaRPr lang="en-US" sz="1000" dirty="0"/>
          </a:p>
        </p:txBody>
      </p:sp>
      <p:sp>
        <p:nvSpPr>
          <p:cNvPr id="67" name="rret-346"/>
          <p:cNvSpPr/>
          <p:nvPr/>
        </p:nvSpPr>
        <p:spPr>
          <a:xfrm>
            <a:off x="9122969" y="3520440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81CEBA"/>
          </a:solidFill>
          <a:ln w="6350">
            <a:solidFill>
              <a:srgbClr val="81CEBA"/>
            </a:solidFill>
            <a:prstDash val="solid"/>
          </a:ln>
        </p:spPr>
      </p:sp>
      <p:sp>
        <p:nvSpPr>
          <p:cNvPr id="68" name="texto-347"/>
          <p:cNvSpPr txBox="1"/>
          <p:nvPr/>
        </p:nvSpPr>
        <p:spPr>
          <a:xfrm>
            <a:off x="9122969" y="35204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Média</a:t>
            </a:r>
            <a:endParaRPr lang="en-US" sz="1000" dirty="0"/>
          </a:p>
        </p:txBody>
      </p:sp>
      <p:sp>
        <p:nvSpPr>
          <p:cNvPr id="69" name="rret-348"/>
          <p:cNvSpPr/>
          <p:nvPr/>
        </p:nvSpPr>
        <p:spPr>
          <a:xfrm>
            <a:off x="9859061" y="3520440"/>
            <a:ext cx="662940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0" name="texto-349"/>
          <p:cNvSpPr txBox="1"/>
          <p:nvPr/>
        </p:nvSpPr>
        <p:spPr>
          <a:xfrm>
            <a:off x="9859061" y="3520440"/>
            <a:ext cx="662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Longa</a:t>
            </a:r>
            <a:endParaRPr lang="en-US" sz="1000" dirty="0"/>
          </a:p>
        </p:txBody>
      </p:sp>
      <p:sp>
        <p:nvSpPr>
          <p:cNvPr id="71" name="texto-350"/>
          <p:cNvSpPr txBox="1"/>
          <p:nvPr/>
        </p:nvSpPr>
        <p:spPr>
          <a:xfrm>
            <a:off x="8386877" y="3922776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Onde se fazem cortes</a:t>
            </a:r>
            <a:endParaRPr lang="en-US" sz="1100" dirty="0"/>
          </a:p>
        </p:txBody>
      </p:sp>
      <p:sp>
        <p:nvSpPr>
          <p:cNvPr id="72" name="rret-351"/>
          <p:cNvSpPr/>
          <p:nvPr/>
        </p:nvSpPr>
        <p:spPr>
          <a:xfrm>
            <a:off x="8386877" y="4178808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3" name="texto-352"/>
          <p:cNvSpPr txBox="1"/>
          <p:nvPr/>
        </p:nvSpPr>
        <p:spPr>
          <a:xfrm>
            <a:off x="8386877" y="417880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Na área</a:t>
            </a:r>
            <a:endParaRPr lang="en-US" sz="1000" dirty="0"/>
          </a:p>
        </p:txBody>
      </p:sp>
      <p:sp>
        <p:nvSpPr>
          <p:cNvPr id="74" name="rret-353"/>
          <p:cNvSpPr/>
          <p:nvPr/>
        </p:nvSpPr>
        <p:spPr>
          <a:xfrm>
            <a:off x="9278417" y="4178808"/>
            <a:ext cx="81838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75" name="texto-354"/>
          <p:cNvSpPr txBox="1"/>
          <p:nvPr/>
        </p:nvSpPr>
        <p:spPr>
          <a:xfrm>
            <a:off x="9278417" y="4178808"/>
            <a:ext cx="8183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Varanda</a:t>
            </a:r>
            <a:endParaRPr lang="en-US" sz="1000" dirty="0"/>
          </a:p>
        </p:txBody>
      </p:sp>
      <p:sp>
        <p:nvSpPr>
          <p:cNvPr id="76" name="rret-355"/>
          <p:cNvSpPr/>
          <p:nvPr/>
        </p:nvSpPr>
        <p:spPr>
          <a:xfrm>
            <a:off x="10169957" y="4178808"/>
            <a:ext cx="585216" cy="274320"/>
          </a:xfrm>
          <a:prstGeom prst="roundRect">
            <a:avLst>
              <a:gd name="adj" fmla="val 50000"/>
            </a:avLst>
          </a:prstGeom>
          <a:solidFill>
            <a:srgbClr val="81CEBA"/>
          </a:solidFill>
          <a:ln w="6350">
            <a:solidFill>
              <a:srgbClr val="81CEBA"/>
            </a:solidFill>
            <a:prstDash val="solid"/>
          </a:ln>
        </p:spPr>
      </p:sp>
      <p:sp>
        <p:nvSpPr>
          <p:cNvPr id="77" name="texto-356"/>
          <p:cNvSpPr txBox="1"/>
          <p:nvPr/>
        </p:nvSpPr>
        <p:spPr>
          <a:xfrm>
            <a:off x="10169957" y="4178808"/>
            <a:ext cx="585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Fora</a:t>
            </a:r>
            <a:endParaRPr lang="en-US" sz="1000" dirty="0"/>
          </a:p>
        </p:txBody>
      </p:sp>
      <p:sp>
        <p:nvSpPr>
          <p:cNvPr id="78" name="texto-357"/>
          <p:cNvSpPr txBox="1"/>
          <p:nvPr/>
        </p:nvSpPr>
        <p:spPr>
          <a:xfrm>
            <a:off x="8386877" y="4581144"/>
            <a:ext cx="29361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F0E8"/>
                </a:solidFill>
              </a:rPr>
              <a:t>Janela</a:t>
            </a:r>
            <a:endParaRPr lang="en-US" sz="1100" dirty="0"/>
          </a:p>
        </p:txBody>
      </p:sp>
      <p:sp>
        <p:nvSpPr>
          <p:cNvPr id="79" name="rret-358"/>
          <p:cNvSpPr/>
          <p:nvPr/>
        </p:nvSpPr>
        <p:spPr>
          <a:xfrm>
            <a:off x="8386877" y="483717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81CEBA"/>
          </a:solidFill>
          <a:ln w="6350">
            <a:solidFill>
              <a:srgbClr val="81CEBA"/>
            </a:solidFill>
            <a:prstDash val="solid"/>
          </a:ln>
        </p:spPr>
      </p:sp>
      <p:sp>
        <p:nvSpPr>
          <p:cNvPr id="80" name="texto-359"/>
          <p:cNvSpPr txBox="1"/>
          <p:nvPr/>
        </p:nvSpPr>
        <p:spPr>
          <a:xfrm>
            <a:off x="8386877" y="48371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Sim</a:t>
            </a:r>
            <a:endParaRPr lang="en-US" sz="1000" dirty="0"/>
          </a:p>
        </p:txBody>
      </p:sp>
      <p:sp>
        <p:nvSpPr>
          <p:cNvPr id="81" name="rret-360"/>
          <p:cNvSpPr/>
          <p:nvPr/>
        </p:nvSpPr>
        <p:spPr>
          <a:xfrm>
            <a:off x="9026957" y="4837176"/>
            <a:ext cx="566928" cy="274320"/>
          </a:xfrm>
          <a:prstGeom prst="roundRect">
            <a:avLst>
              <a:gd name="adj" fmla="val 50000"/>
            </a:avLst>
          </a:prstGeom>
          <a:solidFill>
            <a:srgbClr val="222222"/>
          </a:solidFill>
          <a:ln w="6350">
            <a:solidFill>
              <a:srgbClr val="3A3A3A"/>
            </a:solidFill>
            <a:prstDash val="solid"/>
          </a:ln>
        </p:spPr>
      </p:sp>
      <p:sp>
        <p:nvSpPr>
          <p:cNvPr id="82" name="texto-361"/>
          <p:cNvSpPr txBox="1"/>
          <p:nvPr/>
        </p:nvSpPr>
        <p:spPr>
          <a:xfrm>
            <a:off x="9026957" y="4837176"/>
            <a:ext cx="566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A39A"/>
                </a:solidFill>
              </a:rPr>
              <a:t>Não</a:t>
            </a:r>
            <a:endParaRPr lang="en-US" sz="1000" dirty="0"/>
          </a:p>
        </p:txBody>
      </p:sp>
      <p:sp>
        <p:nvSpPr>
          <p:cNvPr id="83" name="texto-362"/>
          <p:cNvSpPr txBox="1"/>
          <p:nvPr/>
        </p:nvSpPr>
        <p:spPr>
          <a:xfrm>
            <a:off x="594360" y="553212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CEBA"/>
                </a:solidFill>
              </a:rPr>
              <a:t>Porque importa: </a:t>
            </a:r>
            <a:pPr indent="0" marL="0">
              <a:buNone/>
            </a:pPr>
            <a:r>
              <a:rPr lang="en-US" sz="1400" dirty="0">
                <a:solidFill>
                  <a:srgbClr val="A8A39A"/>
                </a:solidFill>
              </a:rPr>
              <a:t>estes campos alimentam o plano da obra (as medidas multiplicam os tempos) e, a seguir, o orçamento: proteções, deslocação e estacionamento discriminados.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363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OPERAÇÕES · PLANEAMENTO AUTOMÁTICO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plano da obra faz-se sozinho, a partir do contrato</a:t>
            </a:r>
            <a:endParaRPr lang="en-US" sz="3000" dirty="0"/>
          </a:p>
        </p:txBody>
      </p:sp>
      <p:sp>
        <p:nvSpPr>
          <p:cNvPr id="4" name="cartao-364"/>
          <p:cNvSpPr/>
          <p:nvPr/>
        </p:nvSpPr>
        <p:spPr>
          <a:xfrm>
            <a:off x="594360" y="1691640"/>
            <a:ext cx="7863840" cy="4206240"/>
          </a:xfrm>
          <a:prstGeom prst="roundRect">
            <a:avLst>
              <a:gd name="adj" fmla="val 217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5" name="texto-365"/>
          <p:cNvSpPr txBox="1"/>
          <p:nvPr/>
        </p:nvSpPr>
        <p:spPr>
          <a:xfrm>
            <a:off x="2834640" y="185623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A64"/>
                </a:solidFill>
              </a:rPr>
              <a:t>seg</a:t>
            </a:r>
            <a:endParaRPr lang="en-US" sz="900" dirty="0"/>
          </a:p>
        </p:txBody>
      </p:sp>
      <p:sp>
        <p:nvSpPr>
          <p:cNvPr id="6" name="texto-366"/>
          <p:cNvSpPr txBox="1"/>
          <p:nvPr/>
        </p:nvSpPr>
        <p:spPr>
          <a:xfrm>
            <a:off x="3369564" y="185623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A64"/>
                </a:solidFill>
              </a:rPr>
              <a:t>ter</a:t>
            </a:r>
            <a:endParaRPr lang="en-US" sz="900" dirty="0"/>
          </a:p>
        </p:txBody>
      </p:sp>
      <p:sp>
        <p:nvSpPr>
          <p:cNvPr id="7" name="linha-367"/>
          <p:cNvSpPr/>
          <p:nvPr/>
        </p:nvSpPr>
        <p:spPr>
          <a:xfrm>
            <a:off x="3369564" y="2103120"/>
            <a:ext cx="0" cy="365760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8" name="texto-368"/>
          <p:cNvSpPr txBox="1"/>
          <p:nvPr/>
        </p:nvSpPr>
        <p:spPr>
          <a:xfrm>
            <a:off x="3904488" y="185623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A64"/>
                </a:solidFill>
              </a:rPr>
              <a:t>qua</a:t>
            </a:r>
            <a:endParaRPr lang="en-US" sz="900" dirty="0"/>
          </a:p>
        </p:txBody>
      </p:sp>
      <p:sp>
        <p:nvSpPr>
          <p:cNvPr id="9" name="linha-369"/>
          <p:cNvSpPr/>
          <p:nvPr/>
        </p:nvSpPr>
        <p:spPr>
          <a:xfrm>
            <a:off x="3904488" y="2103120"/>
            <a:ext cx="0" cy="365760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0" name="texto-370"/>
          <p:cNvSpPr txBox="1"/>
          <p:nvPr/>
        </p:nvSpPr>
        <p:spPr>
          <a:xfrm>
            <a:off x="4439412" y="185623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A64"/>
                </a:solidFill>
              </a:rPr>
              <a:t>qui</a:t>
            </a:r>
            <a:endParaRPr lang="en-US" sz="900" dirty="0"/>
          </a:p>
        </p:txBody>
      </p:sp>
      <p:sp>
        <p:nvSpPr>
          <p:cNvPr id="11" name="linha-371"/>
          <p:cNvSpPr/>
          <p:nvPr/>
        </p:nvSpPr>
        <p:spPr>
          <a:xfrm>
            <a:off x="4439412" y="2103120"/>
            <a:ext cx="0" cy="365760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2" name="texto-372"/>
          <p:cNvSpPr txBox="1"/>
          <p:nvPr/>
        </p:nvSpPr>
        <p:spPr>
          <a:xfrm>
            <a:off x="4974336" y="185623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A64"/>
                </a:solidFill>
              </a:rPr>
              <a:t>sex</a:t>
            </a:r>
            <a:endParaRPr lang="en-US" sz="900" dirty="0"/>
          </a:p>
        </p:txBody>
      </p:sp>
      <p:sp>
        <p:nvSpPr>
          <p:cNvPr id="13" name="linha-373"/>
          <p:cNvSpPr/>
          <p:nvPr/>
        </p:nvSpPr>
        <p:spPr>
          <a:xfrm>
            <a:off x="4974336" y="2103120"/>
            <a:ext cx="0" cy="365760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4" name="texto-374"/>
          <p:cNvSpPr txBox="1"/>
          <p:nvPr/>
        </p:nvSpPr>
        <p:spPr>
          <a:xfrm>
            <a:off x="5509260" y="185623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A64"/>
                </a:solidFill>
              </a:rPr>
              <a:t>seg</a:t>
            </a:r>
            <a:endParaRPr lang="en-US" sz="900" dirty="0"/>
          </a:p>
        </p:txBody>
      </p:sp>
      <p:sp>
        <p:nvSpPr>
          <p:cNvPr id="15" name="linha-375"/>
          <p:cNvSpPr/>
          <p:nvPr/>
        </p:nvSpPr>
        <p:spPr>
          <a:xfrm>
            <a:off x="5509260" y="2103120"/>
            <a:ext cx="0" cy="365760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6" name="texto-376"/>
          <p:cNvSpPr txBox="1"/>
          <p:nvPr/>
        </p:nvSpPr>
        <p:spPr>
          <a:xfrm>
            <a:off x="6044184" y="185623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A64"/>
                </a:solidFill>
              </a:rPr>
              <a:t>ter</a:t>
            </a:r>
            <a:endParaRPr lang="en-US" sz="900" dirty="0"/>
          </a:p>
        </p:txBody>
      </p:sp>
      <p:sp>
        <p:nvSpPr>
          <p:cNvPr id="17" name="linha-377"/>
          <p:cNvSpPr/>
          <p:nvPr/>
        </p:nvSpPr>
        <p:spPr>
          <a:xfrm>
            <a:off x="6044184" y="2103120"/>
            <a:ext cx="0" cy="365760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18" name="texto-378"/>
          <p:cNvSpPr txBox="1"/>
          <p:nvPr/>
        </p:nvSpPr>
        <p:spPr>
          <a:xfrm>
            <a:off x="6579108" y="185623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A64"/>
                </a:solidFill>
              </a:rPr>
              <a:t>qua</a:t>
            </a:r>
            <a:endParaRPr lang="en-US" sz="900" dirty="0"/>
          </a:p>
        </p:txBody>
      </p:sp>
      <p:sp>
        <p:nvSpPr>
          <p:cNvPr id="19" name="linha-379"/>
          <p:cNvSpPr/>
          <p:nvPr/>
        </p:nvSpPr>
        <p:spPr>
          <a:xfrm>
            <a:off x="6579108" y="2103120"/>
            <a:ext cx="0" cy="365760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20" name="texto-380"/>
          <p:cNvSpPr txBox="1"/>
          <p:nvPr/>
        </p:nvSpPr>
        <p:spPr>
          <a:xfrm>
            <a:off x="7114032" y="185623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A64"/>
                </a:solidFill>
              </a:rPr>
              <a:t>qui</a:t>
            </a:r>
            <a:endParaRPr lang="en-US" sz="900" dirty="0"/>
          </a:p>
        </p:txBody>
      </p:sp>
      <p:sp>
        <p:nvSpPr>
          <p:cNvPr id="21" name="linha-381"/>
          <p:cNvSpPr/>
          <p:nvPr/>
        </p:nvSpPr>
        <p:spPr>
          <a:xfrm>
            <a:off x="7114032" y="2103120"/>
            <a:ext cx="0" cy="365760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22" name="texto-382"/>
          <p:cNvSpPr txBox="1"/>
          <p:nvPr/>
        </p:nvSpPr>
        <p:spPr>
          <a:xfrm>
            <a:off x="7648956" y="1856232"/>
            <a:ext cx="5349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E6A64"/>
                </a:solidFill>
              </a:rPr>
              <a:t>sex</a:t>
            </a:r>
            <a:endParaRPr lang="en-US" sz="900" dirty="0"/>
          </a:p>
        </p:txBody>
      </p:sp>
      <p:sp>
        <p:nvSpPr>
          <p:cNvPr id="23" name="linha-383"/>
          <p:cNvSpPr/>
          <p:nvPr/>
        </p:nvSpPr>
        <p:spPr>
          <a:xfrm>
            <a:off x="7648956" y="2103120"/>
            <a:ext cx="0" cy="3657600"/>
          </a:xfrm>
          <a:prstGeom prst="line">
            <a:avLst/>
          </a:prstGeom>
          <a:noFill/>
          <a:ln w="6350">
            <a:solidFill>
              <a:srgbClr val="262626"/>
            </a:solidFill>
            <a:prstDash val="solid"/>
          </a:ln>
        </p:spPr>
      </p:sp>
      <p:sp>
        <p:nvSpPr>
          <p:cNvPr id="24" name="texto-384"/>
          <p:cNvSpPr txBox="1"/>
          <p:nvPr/>
        </p:nvSpPr>
        <p:spPr>
          <a:xfrm>
            <a:off x="822960" y="2194560"/>
            <a:ext cx="19659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Proteções e preparação</a:t>
            </a:r>
            <a:endParaRPr lang="en-US" sz="1050" dirty="0"/>
          </a:p>
        </p:txBody>
      </p:sp>
      <p:sp>
        <p:nvSpPr>
          <p:cNvPr id="25" name="rret-385"/>
          <p:cNvSpPr/>
          <p:nvPr/>
        </p:nvSpPr>
        <p:spPr>
          <a:xfrm>
            <a:off x="2834640" y="2266798"/>
            <a:ext cx="267462" cy="216713"/>
          </a:xfrm>
          <a:prstGeom prst="roundRect">
            <a:avLst>
              <a:gd name="adj" fmla="val 21097"/>
            </a:avLst>
          </a:prstGeom>
          <a:solidFill>
            <a:srgbClr val="6F86FF"/>
          </a:solidFill>
          <a:ln w="6350">
            <a:solidFill>
              <a:srgbClr val="6F86FF"/>
            </a:solidFill>
            <a:prstDash val="solid"/>
          </a:ln>
        </p:spPr>
      </p:sp>
      <p:sp>
        <p:nvSpPr>
          <p:cNvPr id="26" name="texto-386"/>
          <p:cNvSpPr txBox="1"/>
          <p:nvPr/>
        </p:nvSpPr>
        <p:spPr>
          <a:xfrm>
            <a:off x="822960" y="2555748"/>
            <a:ext cx="19659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Demolição</a:t>
            </a:r>
            <a:endParaRPr lang="en-US" sz="1050" dirty="0"/>
          </a:p>
        </p:txBody>
      </p:sp>
      <p:sp>
        <p:nvSpPr>
          <p:cNvPr id="27" name="rret-387"/>
          <p:cNvSpPr/>
          <p:nvPr/>
        </p:nvSpPr>
        <p:spPr>
          <a:xfrm>
            <a:off x="3102102" y="2627986"/>
            <a:ext cx="534924" cy="216713"/>
          </a:xfrm>
          <a:prstGeom prst="roundRect">
            <a:avLst>
              <a:gd name="adj" fmla="val 21097"/>
            </a:avLst>
          </a:prstGeom>
          <a:solidFill>
            <a:srgbClr val="6F86FF"/>
          </a:solidFill>
          <a:ln w="6350">
            <a:solidFill>
              <a:srgbClr val="6F86FF"/>
            </a:solidFill>
            <a:prstDash val="solid"/>
          </a:ln>
        </p:spPr>
      </p:sp>
      <p:sp>
        <p:nvSpPr>
          <p:cNvPr id="28" name="texto-388"/>
          <p:cNvSpPr txBox="1"/>
          <p:nvPr/>
        </p:nvSpPr>
        <p:spPr>
          <a:xfrm>
            <a:off x="822960" y="2916936"/>
            <a:ext cx="19659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Canalização</a:t>
            </a:r>
            <a:endParaRPr lang="en-US" sz="1050" dirty="0"/>
          </a:p>
        </p:txBody>
      </p:sp>
      <p:sp>
        <p:nvSpPr>
          <p:cNvPr id="29" name="rret-389"/>
          <p:cNvSpPr/>
          <p:nvPr/>
        </p:nvSpPr>
        <p:spPr>
          <a:xfrm>
            <a:off x="3637026" y="2989174"/>
            <a:ext cx="534924" cy="216713"/>
          </a:xfrm>
          <a:prstGeom prst="roundRect">
            <a:avLst>
              <a:gd name="adj" fmla="val 21097"/>
            </a:avLst>
          </a:prstGeom>
          <a:solidFill>
            <a:srgbClr val="A07BF2"/>
          </a:solidFill>
          <a:ln w="6350">
            <a:solidFill>
              <a:srgbClr val="A07BF2"/>
            </a:solidFill>
            <a:prstDash val="solid"/>
          </a:ln>
        </p:spPr>
      </p:sp>
      <p:sp>
        <p:nvSpPr>
          <p:cNvPr id="30" name="texto-390"/>
          <p:cNvSpPr txBox="1"/>
          <p:nvPr/>
        </p:nvSpPr>
        <p:spPr>
          <a:xfrm>
            <a:off x="822960" y="3278124"/>
            <a:ext cx="19659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Eletricidade</a:t>
            </a:r>
            <a:endParaRPr lang="en-US" sz="1050" dirty="0"/>
          </a:p>
        </p:txBody>
      </p:sp>
      <p:sp>
        <p:nvSpPr>
          <p:cNvPr id="31" name="rret-391"/>
          <p:cNvSpPr/>
          <p:nvPr/>
        </p:nvSpPr>
        <p:spPr>
          <a:xfrm>
            <a:off x="3637026" y="3350362"/>
            <a:ext cx="427939" cy="216713"/>
          </a:xfrm>
          <a:prstGeom prst="roundRect">
            <a:avLst>
              <a:gd name="adj" fmla="val 21097"/>
            </a:avLst>
          </a:prstGeom>
          <a:solidFill>
            <a:srgbClr val="A07BF2"/>
          </a:solidFill>
          <a:ln w="6350">
            <a:solidFill>
              <a:srgbClr val="A07BF2"/>
            </a:solidFill>
            <a:prstDash val="solid"/>
          </a:ln>
        </p:spPr>
      </p:sp>
      <p:sp>
        <p:nvSpPr>
          <p:cNvPr id="32" name="texto-392"/>
          <p:cNvSpPr txBox="1"/>
          <p:nvPr/>
        </p:nvSpPr>
        <p:spPr>
          <a:xfrm>
            <a:off x="822960" y="3639312"/>
            <a:ext cx="19659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Impermeabilização</a:t>
            </a:r>
            <a:endParaRPr lang="en-US" sz="1050" dirty="0"/>
          </a:p>
        </p:txBody>
      </p:sp>
      <p:sp>
        <p:nvSpPr>
          <p:cNvPr id="33" name="rret-393"/>
          <p:cNvSpPr/>
          <p:nvPr/>
        </p:nvSpPr>
        <p:spPr>
          <a:xfrm>
            <a:off x="4171950" y="3711550"/>
            <a:ext cx="267462" cy="216713"/>
          </a:xfrm>
          <a:prstGeom prst="roundRect">
            <a:avLst>
              <a:gd name="adj" fmla="val 21097"/>
            </a:avLst>
          </a:prstGeom>
          <a:solidFill>
            <a:srgbClr val="81CEBA"/>
          </a:solidFill>
          <a:ln w="6350">
            <a:solidFill>
              <a:srgbClr val="81CEBA"/>
            </a:solidFill>
            <a:prstDash val="solid"/>
          </a:ln>
        </p:spPr>
      </p:sp>
      <p:sp>
        <p:nvSpPr>
          <p:cNvPr id="34" name="texto-394"/>
          <p:cNvSpPr txBox="1"/>
          <p:nvPr/>
        </p:nvSpPr>
        <p:spPr>
          <a:xfrm>
            <a:off x="822960" y="4000500"/>
            <a:ext cx="19659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Secagem (espera)</a:t>
            </a:r>
            <a:endParaRPr lang="en-US" sz="1050" dirty="0"/>
          </a:p>
        </p:txBody>
      </p:sp>
      <p:sp>
        <p:nvSpPr>
          <p:cNvPr id="35" name="rret-395"/>
          <p:cNvSpPr/>
          <p:nvPr/>
        </p:nvSpPr>
        <p:spPr>
          <a:xfrm>
            <a:off x="4439412" y="4072738"/>
            <a:ext cx="534924" cy="216713"/>
          </a:xfrm>
          <a:prstGeom prst="roundRect">
            <a:avLst>
              <a:gd name="adj" fmla="val 21097"/>
            </a:avLst>
          </a:prstGeom>
          <a:solidFill>
            <a:srgbClr val="4A4A4A"/>
          </a:solidFill>
          <a:ln w="6350">
            <a:solidFill>
              <a:srgbClr val="4A4A4A"/>
            </a:solidFill>
            <a:prstDash val="solid"/>
          </a:ln>
        </p:spPr>
      </p:sp>
      <p:sp>
        <p:nvSpPr>
          <p:cNvPr id="36" name="texto-396"/>
          <p:cNvSpPr txBox="1"/>
          <p:nvPr/>
        </p:nvSpPr>
        <p:spPr>
          <a:xfrm>
            <a:off x="822960" y="4361688"/>
            <a:ext cx="19659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Revestimento de parede</a:t>
            </a:r>
            <a:endParaRPr lang="en-US" sz="1050" dirty="0"/>
          </a:p>
        </p:txBody>
      </p:sp>
      <p:sp>
        <p:nvSpPr>
          <p:cNvPr id="37" name="rret-397"/>
          <p:cNvSpPr/>
          <p:nvPr/>
        </p:nvSpPr>
        <p:spPr>
          <a:xfrm>
            <a:off x="4974336" y="4433926"/>
            <a:ext cx="962863" cy="216713"/>
          </a:xfrm>
          <a:prstGeom prst="roundRect">
            <a:avLst>
              <a:gd name="adj" fmla="val 21097"/>
            </a:avLst>
          </a:prstGeom>
          <a:solidFill>
            <a:srgbClr val="81CEBA"/>
          </a:solidFill>
          <a:ln w="6350">
            <a:solidFill>
              <a:srgbClr val="81CEBA"/>
            </a:solidFill>
            <a:prstDash val="solid"/>
          </a:ln>
        </p:spPr>
      </p:sp>
      <p:sp>
        <p:nvSpPr>
          <p:cNvPr id="38" name="texto-398"/>
          <p:cNvSpPr txBox="1"/>
          <p:nvPr/>
        </p:nvSpPr>
        <p:spPr>
          <a:xfrm>
            <a:off x="822960" y="4722876"/>
            <a:ext cx="19659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Pavimento</a:t>
            </a:r>
            <a:endParaRPr lang="en-US" sz="1050" dirty="0"/>
          </a:p>
        </p:txBody>
      </p:sp>
      <p:sp>
        <p:nvSpPr>
          <p:cNvPr id="39" name="rret-399"/>
          <p:cNvSpPr/>
          <p:nvPr/>
        </p:nvSpPr>
        <p:spPr>
          <a:xfrm>
            <a:off x="5937199" y="4795114"/>
            <a:ext cx="534924" cy="216713"/>
          </a:xfrm>
          <a:prstGeom prst="roundRect">
            <a:avLst>
              <a:gd name="adj" fmla="val 21097"/>
            </a:avLst>
          </a:prstGeom>
          <a:solidFill>
            <a:srgbClr val="81CEBA"/>
          </a:solidFill>
          <a:ln w="6350">
            <a:solidFill>
              <a:srgbClr val="81CEBA"/>
            </a:solidFill>
            <a:prstDash val="solid"/>
          </a:ln>
        </p:spPr>
      </p:sp>
      <p:sp>
        <p:nvSpPr>
          <p:cNvPr id="40" name="texto-400"/>
          <p:cNvSpPr txBox="1"/>
          <p:nvPr/>
        </p:nvSpPr>
        <p:spPr>
          <a:xfrm>
            <a:off x="822960" y="5084064"/>
            <a:ext cx="19659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Loiças e torneiras</a:t>
            </a:r>
            <a:endParaRPr lang="en-US" sz="1050" dirty="0"/>
          </a:p>
        </p:txBody>
      </p:sp>
      <p:sp>
        <p:nvSpPr>
          <p:cNvPr id="41" name="rret-401"/>
          <p:cNvSpPr/>
          <p:nvPr/>
        </p:nvSpPr>
        <p:spPr>
          <a:xfrm>
            <a:off x="6472123" y="5156302"/>
            <a:ext cx="534924" cy="216713"/>
          </a:xfrm>
          <a:prstGeom prst="roundRect">
            <a:avLst>
              <a:gd name="adj" fmla="val 21097"/>
            </a:avLst>
          </a:prstGeom>
          <a:solidFill>
            <a:srgbClr val="E84F70"/>
          </a:solidFill>
          <a:ln w="6350">
            <a:solidFill>
              <a:srgbClr val="E84F70"/>
            </a:solidFill>
            <a:prstDash val="solid"/>
          </a:ln>
        </p:spPr>
      </p:sp>
      <p:sp>
        <p:nvSpPr>
          <p:cNvPr id="42" name="texto-402"/>
          <p:cNvSpPr txBox="1"/>
          <p:nvPr/>
        </p:nvSpPr>
        <p:spPr>
          <a:xfrm>
            <a:off x="822960" y="5445252"/>
            <a:ext cx="1965960" cy="3611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5F0E8"/>
                </a:solidFill>
              </a:rPr>
              <a:t>Limpeza e vistoria</a:t>
            </a:r>
            <a:endParaRPr lang="en-US" sz="1050" dirty="0"/>
          </a:p>
        </p:txBody>
      </p:sp>
      <p:sp>
        <p:nvSpPr>
          <p:cNvPr id="43" name="rret-403"/>
          <p:cNvSpPr/>
          <p:nvPr/>
        </p:nvSpPr>
        <p:spPr>
          <a:xfrm>
            <a:off x="7007047" y="5517490"/>
            <a:ext cx="320954" cy="216713"/>
          </a:xfrm>
          <a:prstGeom prst="roundRect">
            <a:avLst>
              <a:gd name="adj" fmla="val 21097"/>
            </a:avLst>
          </a:prstGeom>
          <a:solidFill>
            <a:srgbClr val="E84F70"/>
          </a:solidFill>
          <a:ln w="6350">
            <a:solidFill>
              <a:srgbClr val="E84F70"/>
            </a:solidFill>
            <a:prstDash val="solid"/>
          </a:ln>
        </p:spPr>
      </p:sp>
      <p:sp>
        <p:nvSpPr>
          <p:cNvPr id="44" name="texto-404"/>
          <p:cNvSpPr txBox="1"/>
          <p:nvPr/>
        </p:nvSpPr>
        <p:spPr>
          <a:xfrm>
            <a:off x="594360" y="597103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4"/>
                </a:solidFill>
              </a:rPr>
              <a:t>Ilustrativo: casa de banho média, plano em paralelo dentro de cada fase.</a:t>
            </a:r>
            <a:endParaRPr lang="en-US" sz="1000" dirty="0"/>
          </a:p>
        </p:txBody>
      </p:sp>
      <p:sp>
        <p:nvSpPr>
          <p:cNvPr id="45" name="texto-405"/>
          <p:cNvSpPr txBox="1"/>
          <p:nvPr/>
        </p:nvSpPr>
        <p:spPr>
          <a:xfrm>
            <a:off x="8778240" y="1691640"/>
            <a:ext cx="2819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52</a:t>
            </a:r>
            <a:endParaRPr lang="en-US" sz="3800" dirty="0"/>
          </a:p>
        </p:txBody>
      </p:sp>
      <p:sp>
        <p:nvSpPr>
          <p:cNvPr id="46" name="texto-406"/>
          <p:cNvSpPr txBox="1"/>
          <p:nvPr/>
        </p:nvSpPr>
        <p:spPr>
          <a:xfrm>
            <a:off x="8778240" y="2258568"/>
            <a:ext cx="2819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serviços com tempos padrão na Mudelar</a:t>
            </a:r>
            <a:endParaRPr lang="en-US" sz="1200" dirty="0"/>
          </a:p>
        </p:txBody>
      </p:sp>
      <p:sp>
        <p:nvSpPr>
          <p:cNvPr id="47" name="texto-407"/>
          <p:cNvSpPr txBox="1"/>
          <p:nvPr/>
        </p:nvSpPr>
        <p:spPr>
          <a:xfrm>
            <a:off x="8778240" y="2651760"/>
            <a:ext cx="2819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168</a:t>
            </a:r>
            <a:endParaRPr lang="en-US" sz="3800" dirty="0"/>
          </a:p>
        </p:txBody>
      </p:sp>
      <p:sp>
        <p:nvSpPr>
          <p:cNvPr id="48" name="texto-408"/>
          <p:cNvSpPr txBox="1"/>
          <p:nvPr/>
        </p:nvSpPr>
        <p:spPr>
          <a:xfrm>
            <a:off x="8778240" y="3218688"/>
            <a:ext cx="2819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passos de casa de banho e cozinha</a:t>
            </a:r>
            <a:endParaRPr lang="en-US" sz="1200" dirty="0"/>
          </a:p>
        </p:txBody>
      </p:sp>
      <p:sp>
        <p:nvSpPr>
          <p:cNvPr id="49" name="texto-409"/>
          <p:cNvSpPr txBox="1"/>
          <p:nvPr/>
        </p:nvSpPr>
        <p:spPr>
          <a:xfrm>
            <a:off x="8778240" y="3611880"/>
            <a:ext cx="28190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</a:t>
            </a:r>
            <a:endParaRPr lang="en-US" sz="3800" dirty="0"/>
          </a:p>
        </p:txBody>
      </p:sp>
      <p:sp>
        <p:nvSpPr>
          <p:cNvPr id="50" name="texto-410"/>
          <p:cNvSpPr txBox="1"/>
          <p:nvPr/>
        </p:nvSpPr>
        <p:spPr>
          <a:xfrm>
            <a:off x="8778240" y="4178808"/>
            <a:ext cx="28190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fases, com tarefas em paralelo</a:t>
            </a:r>
            <a:endParaRPr lang="en-US" sz="1200" dirty="0"/>
          </a:p>
        </p:txBody>
      </p:sp>
      <p:sp>
        <p:nvSpPr>
          <p:cNvPr id="51" name="texto-411"/>
          <p:cNvSpPr txBox="1"/>
          <p:nvPr/>
        </p:nvSpPr>
        <p:spPr>
          <a:xfrm>
            <a:off x="8778240" y="4617720"/>
            <a:ext cx="281909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</a:rPr>
              <a:t>Esperas de secagem e feriados contados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</a:rPr>
              <a:t>Medidas da visita ajustam os tempos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</a:rPr>
              <a:t>Extras encaixam no pacote vendido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5F0E8"/>
                </a:solidFill>
              </a:rPr>
              <a:t>Pessoas livres atribuídas, choques avisados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41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NO TERRENO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técnico regista, o supervisor valida, o sistema aprende</a:t>
            </a:r>
            <a:endParaRPr lang="en-US" sz="3000" dirty="0"/>
          </a:p>
        </p:txBody>
      </p:sp>
      <p:sp>
        <p:nvSpPr>
          <p:cNvPr id="4" name="rret-413"/>
          <p:cNvSpPr/>
          <p:nvPr/>
        </p:nvSpPr>
        <p:spPr>
          <a:xfrm>
            <a:off x="868680" y="1600200"/>
            <a:ext cx="2195474" cy="4480560"/>
          </a:xfrm>
          <a:prstGeom prst="roundRect">
            <a:avLst>
              <a:gd name="adj" fmla="val 9163"/>
            </a:avLst>
          </a:prstGeom>
          <a:solidFill>
            <a:srgbClr val="050505"/>
          </a:solidFill>
          <a:ln w="19050">
            <a:solidFill>
              <a:srgbClr val="3A3A3A"/>
            </a:solidFill>
            <a:prstDash val="solid"/>
          </a:ln>
        </p:spPr>
      </p:sp>
      <p:sp>
        <p:nvSpPr>
          <p:cNvPr id="5" name="rret-414"/>
          <p:cNvSpPr/>
          <p:nvPr/>
        </p:nvSpPr>
        <p:spPr>
          <a:xfrm>
            <a:off x="960120" y="1709928"/>
            <a:ext cx="2012594" cy="4261104"/>
          </a:xfrm>
          <a:prstGeom prst="roundRect">
            <a:avLst>
              <a:gd name="adj" fmla="val 7269"/>
            </a:avLst>
          </a:prstGeom>
          <a:solidFill>
            <a:srgbClr val="F4F2EE"/>
          </a:solidFill>
          <a:ln w="6350">
            <a:solidFill>
              <a:srgbClr val="F4F2EE"/>
            </a:solidFill>
            <a:prstDash val="solid"/>
          </a:ln>
        </p:spPr>
      </p:sp>
      <p:sp>
        <p:nvSpPr>
          <p:cNvPr id="6" name="rret-415"/>
          <p:cNvSpPr/>
          <p:nvPr/>
        </p:nvSpPr>
        <p:spPr>
          <a:xfrm>
            <a:off x="1646377" y="1755648"/>
            <a:ext cx="640080" cy="91440"/>
          </a:xfrm>
          <a:prstGeom prst="roundRect">
            <a:avLst>
              <a:gd name="adj" fmla="val 50000"/>
            </a:avLst>
          </a:prstGeom>
          <a:solidFill>
            <a:srgbClr val="050505"/>
          </a:solidFill>
          <a:ln w="6350">
            <a:solidFill>
              <a:srgbClr val="050505"/>
            </a:solidFill>
            <a:prstDash val="solid"/>
          </a:ln>
        </p:spPr>
      </p:sp>
      <p:sp>
        <p:nvSpPr>
          <p:cNvPr id="7" name="texto-416"/>
          <p:cNvSpPr txBox="1"/>
          <p:nvPr/>
        </p:nvSpPr>
        <p:spPr>
          <a:xfrm>
            <a:off x="1143000" y="2029968"/>
            <a:ext cx="1646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6E6A64"/>
                </a:solidFill>
              </a:rPr>
              <a:t>A MINHA TAREFA</a:t>
            </a:r>
            <a:endParaRPr lang="en-US" sz="750" dirty="0"/>
          </a:p>
        </p:txBody>
      </p:sp>
      <p:sp>
        <p:nvSpPr>
          <p:cNvPr id="8" name="texto-417"/>
          <p:cNvSpPr txBox="1"/>
          <p:nvPr/>
        </p:nvSpPr>
        <p:spPr>
          <a:xfrm>
            <a:off x="1143000" y="2240280"/>
            <a:ext cx="16468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3A3A"/>
                </a:solidFill>
              </a:rPr>
              <a:t>Revestimento de parede</a:t>
            </a:r>
            <a:endParaRPr lang="en-US" sz="1100" dirty="0"/>
          </a:p>
        </p:txBody>
      </p:sp>
      <p:sp>
        <p:nvSpPr>
          <p:cNvPr id="9" name="texto-418"/>
          <p:cNvSpPr txBox="1"/>
          <p:nvPr/>
        </p:nvSpPr>
        <p:spPr>
          <a:xfrm>
            <a:off x="1143000" y="2514600"/>
            <a:ext cx="1646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E6A64"/>
                </a:solidFill>
              </a:rPr>
              <a:t>WC · Lisboa · fase 3</a:t>
            </a:r>
            <a:endParaRPr lang="en-US" sz="850" dirty="0"/>
          </a:p>
        </p:txBody>
      </p:sp>
      <p:sp>
        <p:nvSpPr>
          <p:cNvPr id="10" name="rret-419"/>
          <p:cNvSpPr/>
          <p:nvPr/>
        </p:nvSpPr>
        <p:spPr>
          <a:xfrm>
            <a:off x="1143000" y="2852928"/>
            <a:ext cx="1646834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6350">
            <a:solidFill>
              <a:srgbClr val="E2DED7"/>
            </a:solidFill>
            <a:prstDash val="solid"/>
          </a:ln>
        </p:spPr>
      </p:sp>
      <p:sp>
        <p:nvSpPr>
          <p:cNvPr id="11" name="texto-420"/>
          <p:cNvSpPr txBox="1"/>
          <p:nvPr/>
        </p:nvSpPr>
        <p:spPr>
          <a:xfrm>
            <a:off x="1143000" y="2916936"/>
            <a:ext cx="164683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A3A3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02:14:35</a:t>
            </a:r>
            <a:endParaRPr lang="en-US" sz="2400" dirty="0"/>
          </a:p>
        </p:txBody>
      </p:sp>
      <p:sp>
        <p:nvSpPr>
          <p:cNvPr id="12" name="texto-421"/>
          <p:cNvSpPr txBox="1"/>
          <p:nvPr/>
        </p:nvSpPr>
        <p:spPr>
          <a:xfrm>
            <a:off x="1143000" y="3401568"/>
            <a:ext cx="164683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E6A64"/>
                </a:solidFill>
              </a:rPr>
              <a:t>previsto 06:00</a:t>
            </a:r>
            <a:endParaRPr lang="en-US" sz="800" dirty="0"/>
          </a:p>
        </p:txBody>
      </p:sp>
      <p:sp>
        <p:nvSpPr>
          <p:cNvPr id="13" name="rret-422"/>
          <p:cNvSpPr/>
          <p:nvPr/>
        </p:nvSpPr>
        <p:spPr>
          <a:xfrm>
            <a:off x="1143000" y="3904488"/>
            <a:ext cx="1646834" cy="347472"/>
          </a:xfrm>
          <a:prstGeom prst="roundRect">
            <a:avLst>
              <a:gd name="adj" fmla="val 21053"/>
            </a:avLst>
          </a:prstGeom>
          <a:solidFill>
            <a:srgbClr val="67A392"/>
          </a:solidFill>
          <a:ln w="6350">
            <a:solidFill>
              <a:srgbClr val="67A392"/>
            </a:solidFill>
            <a:prstDash val="solid"/>
          </a:ln>
        </p:spPr>
      </p:sp>
      <p:sp>
        <p:nvSpPr>
          <p:cNvPr id="14" name="texto-423"/>
          <p:cNvSpPr txBox="1"/>
          <p:nvPr/>
        </p:nvSpPr>
        <p:spPr>
          <a:xfrm>
            <a:off x="1143000" y="3904488"/>
            <a:ext cx="1646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Concluir tarefa</a:t>
            </a:r>
            <a:endParaRPr lang="en-US" sz="950" dirty="0"/>
          </a:p>
        </p:txBody>
      </p:sp>
      <p:sp>
        <p:nvSpPr>
          <p:cNvPr id="15" name="rret-424"/>
          <p:cNvSpPr/>
          <p:nvPr/>
        </p:nvSpPr>
        <p:spPr>
          <a:xfrm>
            <a:off x="1143000" y="4343400"/>
            <a:ext cx="1646834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o-425"/>
          <p:cNvSpPr txBox="1"/>
          <p:nvPr/>
        </p:nvSpPr>
        <p:spPr>
          <a:xfrm>
            <a:off x="1143000" y="4343400"/>
            <a:ext cx="1646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A3A3A"/>
                </a:solidFill>
              </a:rPr>
              <a:t>Tirar foto</a:t>
            </a:r>
            <a:endParaRPr lang="en-US" sz="950" dirty="0"/>
          </a:p>
        </p:txBody>
      </p:sp>
      <p:sp>
        <p:nvSpPr>
          <p:cNvPr id="17" name="rret-426"/>
          <p:cNvSpPr/>
          <p:nvPr/>
        </p:nvSpPr>
        <p:spPr>
          <a:xfrm>
            <a:off x="1143000" y="4782312"/>
            <a:ext cx="1646834" cy="347472"/>
          </a:xfrm>
          <a:prstGeom prst="roundRect">
            <a:avLst>
              <a:gd name="adj" fmla="val 21053"/>
            </a:avLst>
          </a:prstGeom>
          <a:solidFill>
            <a:srgbClr val="FBE3E8"/>
          </a:solidFill>
          <a:ln w="6350">
            <a:solidFill>
              <a:srgbClr val="FBE3E8"/>
            </a:solidFill>
            <a:prstDash val="solid"/>
          </a:ln>
        </p:spPr>
      </p:sp>
      <p:sp>
        <p:nvSpPr>
          <p:cNvPr id="18" name="texto-427"/>
          <p:cNvSpPr txBox="1"/>
          <p:nvPr/>
        </p:nvSpPr>
        <p:spPr>
          <a:xfrm>
            <a:off x="1143000" y="4782312"/>
            <a:ext cx="16468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B3213F"/>
                </a:solidFill>
              </a:rPr>
              <a:t>Reportar atraso</a:t>
            </a:r>
            <a:endParaRPr lang="en-US" sz="950" dirty="0"/>
          </a:p>
        </p:txBody>
      </p:sp>
      <p:sp>
        <p:nvSpPr>
          <p:cNvPr id="19" name="texto-428"/>
          <p:cNvSpPr txBox="1"/>
          <p:nvPr/>
        </p:nvSpPr>
        <p:spPr>
          <a:xfrm>
            <a:off x="868680" y="61722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E6A64"/>
                </a:solidFill>
              </a:rPr>
              <a:t>Ecrã ilustrativo.</a:t>
            </a:r>
            <a:endParaRPr lang="en-US" sz="1000" dirty="0"/>
          </a:p>
        </p:txBody>
      </p:sp>
      <p:sp>
        <p:nvSpPr>
          <p:cNvPr id="20" name="cartao-429"/>
          <p:cNvSpPr/>
          <p:nvPr/>
        </p:nvSpPr>
        <p:spPr>
          <a:xfrm>
            <a:off x="3931920" y="1691640"/>
            <a:ext cx="7665415" cy="914400"/>
          </a:xfrm>
          <a:prstGeom prst="roundRect">
            <a:avLst>
              <a:gd name="adj" fmla="val 10000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1" name="ponto-430"/>
          <p:cNvSpPr/>
          <p:nvPr/>
        </p:nvSpPr>
        <p:spPr>
          <a:xfrm>
            <a:off x="4160520" y="1874520"/>
            <a:ext cx="548640" cy="54864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22" name="icone-43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011680"/>
            <a:ext cx="274320" cy="274320"/>
          </a:xfrm>
          <a:prstGeom prst="rect">
            <a:avLst/>
          </a:prstGeom>
        </p:spPr>
      </p:pic>
      <p:sp>
        <p:nvSpPr>
          <p:cNvPr id="23" name="texto-432"/>
          <p:cNvSpPr txBox="1"/>
          <p:nvPr/>
        </p:nvSpPr>
        <p:spPr>
          <a:xfrm>
            <a:off x="493776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Relógio por tarefa</a:t>
            </a:r>
            <a:endParaRPr lang="en-US" sz="1600" dirty="0"/>
          </a:p>
        </p:txBody>
      </p:sp>
      <p:sp>
        <p:nvSpPr>
          <p:cNvPr id="24" name="texto-433"/>
          <p:cNvSpPr txBox="1"/>
          <p:nvPr/>
        </p:nvSpPr>
        <p:spPr>
          <a:xfrm>
            <a:off x="4937760" y="2167128"/>
            <a:ext cx="6476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Começar, pausar e concluir no telemóvel; o tempo real fica registado</a:t>
            </a:r>
            <a:endParaRPr lang="en-US" sz="1300" dirty="0"/>
          </a:p>
        </p:txBody>
      </p:sp>
      <p:sp>
        <p:nvSpPr>
          <p:cNvPr id="25" name="cartao-434"/>
          <p:cNvSpPr/>
          <p:nvPr/>
        </p:nvSpPr>
        <p:spPr>
          <a:xfrm>
            <a:off x="3931920" y="2770632"/>
            <a:ext cx="7665415" cy="914400"/>
          </a:xfrm>
          <a:prstGeom prst="roundRect">
            <a:avLst>
              <a:gd name="adj" fmla="val 10000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6" name="ponto-435"/>
          <p:cNvSpPr/>
          <p:nvPr/>
        </p:nvSpPr>
        <p:spPr>
          <a:xfrm>
            <a:off x="4160520" y="2953512"/>
            <a:ext cx="548640" cy="54864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27" name="icone-43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3090672"/>
            <a:ext cx="274320" cy="274320"/>
          </a:xfrm>
          <a:prstGeom prst="rect">
            <a:avLst/>
          </a:prstGeom>
        </p:spPr>
      </p:pic>
      <p:sp>
        <p:nvSpPr>
          <p:cNvPr id="28" name="texto-437"/>
          <p:cNvSpPr txBox="1"/>
          <p:nvPr/>
        </p:nvSpPr>
        <p:spPr>
          <a:xfrm>
            <a:off x="4937760" y="29077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Fotos e atrasos</a:t>
            </a:r>
            <a:endParaRPr lang="en-US" sz="1600" dirty="0"/>
          </a:p>
        </p:txBody>
      </p:sp>
      <p:sp>
        <p:nvSpPr>
          <p:cNvPr id="29" name="texto-438"/>
          <p:cNvSpPr txBox="1"/>
          <p:nvPr/>
        </p:nvSpPr>
        <p:spPr>
          <a:xfrm>
            <a:off x="4937760" y="3246120"/>
            <a:ext cx="6476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Fotos em cada tarefa; um atraso pede justificação e nova estimativa</a:t>
            </a:r>
            <a:endParaRPr lang="en-US" sz="1300" dirty="0"/>
          </a:p>
        </p:txBody>
      </p:sp>
      <p:sp>
        <p:nvSpPr>
          <p:cNvPr id="30" name="cartao-439"/>
          <p:cNvSpPr/>
          <p:nvPr/>
        </p:nvSpPr>
        <p:spPr>
          <a:xfrm>
            <a:off x="3931920" y="3849624"/>
            <a:ext cx="7665415" cy="914400"/>
          </a:xfrm>
          <a:prstGeom prst="roundRect">
            <a:avLst>
              <a:gd name="adj" fmla="val 10000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1" name="ponto-440"/>
          <p:cNvSpPr/>
          <p:nvPr/>
        </p:nvSpPr>
        <p:spPr>
          <a:xfrm>
            <a:off x="4160520" y="4032504"/>
            <a:ext cx="548640" cy="548640"/>
          </a:xfrm>
          <a:prstGeom prst="ellipse">
            <a:avLst/>
          </a:prstGeom>
          <a:solidFill>
            <a:srgbClr val="E84F70"/>
          </a:solidFill>
          <a:ln w="12700">
            <a:solidFill>
              <a:srgbClr val="E84F70"/>
            </a:solidFill>
            <a:prstDash val="solid"/>
          </a:ln>
        </p:spPr>
      </p:sp>
      <p:pic>
        <p:nvPicPr>
          <p:cNvPr id="32" name="icone-44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169664"/>
            <a:ext cx="274320" cy="274320"/>
          </a:xfrm>
          <a:prstGeom prst="rect">
            <a:avLst/>
          </a:prstGeom>
        </p:spPr>
      </p:pic>
      <p:sp>
        <p:nvSpPr>
          <p:cNvPr id="33" name="texto-442"/>
          <p:cNvSpPr txBox="1"/>
          <p:nvPr/>
        </p:nvSpPr>
        <p:spPr>
          <a:xfrm>
            <a:off x="4937760" y="3986784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Validação</a:t>
            </a:r>
            <a:endParaRPr lang="en-US" sz="1600" dirty="0"/>
          </a:p>
        </p:txBody>
      </p:sp>
      <p:sp>
        <p:nvSpPr>
          <p:cNvPr id="34" name="texto-443"/>
          <p:cNvSpPr txBox="1"/>
          <p:nvPr/>
        </p:nvSpPr>
        <p:spPr>
          <a:xfrm>
            <a:off x="4937760" y="4325112"/>
            <a:ext cx="6476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O supervisor valida o trabalho e recebe alertas de atraso</a:t>
            </a:r>
            <a:endParaRPr lang="en-US" sz="1300" dirty="0"/>
          </a:p>
        </p:txBody>
      </p:sp>
      <p:sp>
        <p:nvSpPr>
          <p:cNvPr id="35" name="cartao-444"/>
          <p:cNvSpPr/>
          <p:nvPr/>
        </p:nvSpPr>
        <p:spPr>
          <a:xfrm>
            <a:off x="3931920" y="4928616"/>
            <a:ext cx="7665415" cy="914400"/>
          </a:xfrm>
          <a:prstGeom prst="roundRect">
            <a:avLst>
              <a:gd name="adj" fmla="val 10000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6" name="ponto-445"/>
          <p:cNvSpPr/>
          <p:nvPr/>
        </p:nvSpPr>
        <p:spPr>
          <a:xfrm>
            <a:off x="4160520" y="5111496"/>
            <a:ext cx="548640" cy="54864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37" name="icone-44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5248656"/>
            <a:ext cx="274320" cy="274320"/>
          </a:xfrm>
          <a:prstGeom prst="rect">
            <a:avLst/>
          </a:prstGeom>
        </p:spPr>
      </p:pic>
      <p:sp>
        <p:nvSpPr>
          <p:cNvPr id="38" name="texto-447"/>
          <p:cNvSpPr txBox="1"/>
          <p:nvPr/>
        </p:nvSpPr>
        <p:spPr>
          <a:xfrm>
            <a:off x="4937760" y="50657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Previsto contra real</a:t>
            </a:r>
            <a:endParaRPr lang="en-US" sz="1600" dirty="0"/>
          </a:p>
        </p:txBody>
      </p:sp>
      <p:sp>
        <p:nvSpPr>
          <p:cNvPr id="39" name="texto-448"/>
          <p:cNvSpPr txBox="1"/>
          <p:nvPr/>
        </p:nvSpPr>
        <p:spPr>
          <a:xfrm>
            <a:off x="4937760" y="5404104"/>
            <a:ext cx="6476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Gantt por dia, semana ou mês, com o plano original por baixo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449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A BASE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que não se vê, mas segura tudo</a:t>
            </a:r>
            <a:endParaRPr lang="en-US" sz="3000" dirty="0"/>
          </a:p>
        </p:txBody>
      </p:sp>
      <p:sp>
        <p:nvSpPr>
          <p:cNvPr id="4" name="cartao-450"/>
          <p:cNvSpPr/>
          <p:nvPr/>
        </p:nvSpPr>
        <p:spPr>
          <a:xfrm>
            <a:off x="594360" y="1691640"/>
            <a:ext cx="3484778" cy="2057400"/>
          </a:xfrm>
          <a:prstGeom prst="roundRect">
            <a:avLst>
              <a:gd name="adj" fmla="val 444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5" name="ponto-451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6" name="icone-45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103120"/>
            <a:ext cx="274320" cy="274320"/>
          </a:xfrm>
          <a:prstGeom prst="rect">
            <a:avLst/>
          </a:prstGeom>
        </p:spPr>
      </p:pic>
      <p:sp>
        <p:nvSpPr>
          <p:cNvPr id="7" name="texto-453"/>
          <p:cNvSpPr txBox="1"/>
          <p:nvPr/>
        </p:nvSpPr>
        <p:spPr>
          <a:xfrm>
            <a:off x="1600200" y="199339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Segurança e RGPD</a:t>
            </a:r>
            <a:endParaRPr lang="en-US" sz="1700" dirty="0"/>
          </a:p>
        </p:txBody>
      </p:sp>
      <p:sp>
        <p:nvSpPr>
          <p:cNvPr id="8" name="texto-454"/>
          <p:cNvSpPr txBox="1"/>
          <p:nvPr/>
        </p:nvSpPr>
        <p:spPr>
          <a:xfrm>
            <a:off x="868680" y="269748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39A"/>
                </a:solidFill>
              </a:rPr>
              <a:t>Cada empresa só vê os seus dados. NIF cifrado, histórico de cada alteração, direito ao esquecimento, lixo recuperável.</a:t>
            </a:r>
            <a:endParaRPr lang="en-US" sz="1250" dirty="0"/>
          </a:p>
        </p:txBody>
      </p:sp>
      <p:sp>
        <p:nvSpPr>
          <p:cNvPr id="9" name="cartao-455"/>
          <p:cNvSpPr/>
          <p:nvPr/>
        </p:nvSpPr>
        <p:spPr>
          <a:xfrm>
            <a:off x="4353458" y="1691640"/>
            <a:ext cx="3484778" cy="2057400"/>
          </a:xfrm>
          <a:prstGeom prst="roundRect">
            <a:avLst>
              <a:gd name="adj" fmla="val 444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0" name="ponto-456"/>
          <p:cNvSpPr/>
          <p:nvPr/>
        </p:nvSpPr>
        <p:spPr>
          <a:xfrm>
            <a:off x="4627778" y="1965960"/>
            <a:ext cx="548640" cy="548640"/>
          </a:xfrm>
          <a:prstGeom prst="ellipse">
            <a:avLst/>
          </a:prstGeom>
          <a:solidFill>
            <a:srgbClr val="6F86FF"/>
          </a:solidFill>
          <a:ln w="12700">
            <a:solidFill>
              <a:srgbClr val="6F86FF"/>
            </a:solidFill>
            <a:prstDash val="solid"/>
          </a:ln>
        </p:spPr>
      </p:sp>
      <p:pic>
        <p:nvPicPr>
          <p:cNvPr id="11" name="icone-45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938" y="2103120"/>
            <a:ext cx="274320" cy="274320"/>
          </a:xfrm>
          <a:prstGeom prst="rect">
            <a:avLst/>
          </a:prstGeom>
        </p:spPr>
      </p:pic>
      <p:sp>
        <p:nvSpPr>
          <p:cNvPr id="12" name="texto-458"/>
          <p:cNvSpPr txBox="1"/>
          <p:nvPr/>
        </p:nvSpPr>
        <p:spPr>
          <a:xfrm>
            <a:off x="5359298" y="199339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Stock e compras</a:t>
            </a:r>
            <a:endParaRPr lang="en-US" sz="1700" dirty="0"/>
          </a:p>
        </p:txBody>
      </p:sp>
      <p:sp>
        <p:nvSpPr>
          <p:cNvPr id="13" name="texto-459"/>
          <p:cNvSpPr txBox="1"/>
          <p:nvPr/>
        </p:nvSpPr>
        <p:spPr>
          <a:xfrm>
            <a:off x="4627778" y="269748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39A"/>
                </a:solidFill>
              </a:rPr>
              <a:t>Vários fornecedores por produto com histórico de preços, inventário com a câmara, receções parciais, prazos por fornecedor.</a:t>
            </a:r>
            <a:endParaRPr lang="en-US" sz="1250" dirty="0"/>
          </a:p>
        </p:txBody>
      </p:sp>
      <p:sp>
        <p:nvSpPr>
          <p:cNvPr id="14" name="cartao-460"/>
          <p:cNvSpPr/>
          <p:nvPr/>
        </p:nvSpPr>
        <p:spPr>
          <a:xfrm>
            <a:off x="8112557" y="1691640"/>
            <a:ext cx="3484778" cy="2057400"/>
          </a:xfrm>
          <a:prstGeom prst="roundRect">
            <a:avLst>
              <a:gd name="adj" fmla="val 444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5" name="ponto-461"/>
          <p:cNvSpPr/>
          <p:nvPr/>
        </p:nvSpPr>
        <p:spPr>
          <a:xfrm>
            <a:off x="8386877" y="1965960"/>
            <a:ext cx="548640" cy="548640"/>
          </a:xfrm>
          <a:prstGeom prst="ellipse">
            <a:avLst/>
          </a:prstGeom>
          <a:solidFill>
            <a:srgbClr val="A07BF2"/>
          </a:solidFill>
          <a:ln w="12700">
            <a:solidFill>
              <a:srgbClr val="A07BF2"/>
            </a:solidFill>
            <a:prstDash val="solid"/>
          </a:ln>
        </p:spPr>
      </p:sp>
      <p:pic>
        <p:nvPicPr>
          <p:cNvPr id="16" name="icone-46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037" y="2103120"/>
            <a:ext cx="274320" cy="274320"/>
          </a:xfrm>
          <a:prstGeom prst="rect">
            <a:avLst/>
          </a:prstGeom>
        </p:spPr>
      </p:pic>
      <p:sp>
        <p:nvSpPr>
          <p:cNvPr id="17" name="texto-463"/>
          <p:cNvSpPr txBox="1"/>
          <p:nvPr/>
        </p:nvSpPr>
        <p:spPr>
          <a:xfrm>
            <a:off x="9118397" y="199339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Venda direta</a:t>
            </a:r>
            <a:endParaRPr lang="en-US" sz="1700" dirty="0"/>
          </a:p>
        </p:txBody>
      </p:sp>
      <p:sp>
        <p:nvSpPr>
          <p:cNvPr id="18" name="texto-464"/>
          <p:cNvSpPr txBox="1"/>
          <p:nvPr/>
        </p:nvSpPr>
        <p:spPr>
          <a:xfrm>
            <a:off x="8386877" y="269748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39A"/>
                </a:solidFill>
              </a:rPr>
              <a:t>Aceitação no portal com código, proforma, PDF, registo da fatura e custo e margem internos.</a:t>
            </a:r>
            <a:endParaRPr lang="en-US" sz="1250" dirty="0"/>
          </a:p>
        </p:txBody>
      </p:sp>
      <p:sp>
        <p:nvSpPr>
          <p:cNvPr id="19" name="cartao-465"/>
          <p:cNvSpPr/>
          <p:nvPr/>
        </p:nvSpPr>
        <p:spPr>
          <a:xfrm>
            <a:off x="594360" y="3977640"/>
            <a:ext cx="3484778" cy="2057400"/>
          </a:xfrm>
          <a:prstGeom prst="roundRect">
            <a:avLst>
              <a:gd name="adj" fmla="val 444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0" name="ponto-466"/>
          <p:cNvSpPr/>
          <p:nvPr/>
        </p:nvSpPr>
        <p:spPr>
          <a:xfrm>
            <a:off x="868680" y="4251960"/>
            <a:ext cx="548640" cy="54864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21" name="icone-467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389120"/>
            <a:ext cx="274320" cy="274320"/>
          </a:xfrm>
          <a:prstGeom prst="rect">
            <a:avLst/>
          </a:prstGeom>
        </p:spPr>
      </p:pic>
      <p:sp>
        <p:nvSpPr>
          <p:cNvPr id="22" name="texto-468"/>
          <p:cNvSpPr txBox="1"/>
          <p:nvPr/>
        </p:nvSpPr>
        <p:spPr>
          <a:xfrm>
            <a:off x="1600200" y="427939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Planos e limites</a:t>
            </a:r>
            <a:endParaRPr lang="en-US" sz="1700" dirty="0"/>
          </a:p>
        </p:txBody>
      </p:sp>
      <p:sp>
        <p:nvSpPr>
          <p:cNvPr id="23" name="texto-469"/>
          <p:cNvSpPr txBox="1"/>
          <p:nvPr/>
        </p:nvSpPr>
        <p:spPr>
          <a:xfrm>
            <a:off x="868680" y="498348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39A"/>
                </a:solidFill>
              </a:rPr>
              <a:t>Teste de 14 dias, limites por plano, créditos de IA com custo real registado. Pagamentos prontos a ativar.</a:t>
            </a:r>
            <a:endParaRPr lang="en-US" sz="1250" dirty="0"/>
          </a:p>
        </p:txBody>
      </p:sp>
      <p:sp>
        <p:nvSpPr>
          <p:cNvPr id="24" name="cartao-470"/>
          <p:cNvSpPr/>
          <p:nvPr/>
        </p:nvSpPr>
        <p:spPr>
          <a:xfrm>
            <a:off x="4353458" y="3977640"/>
            <a:ext cx="3484778" cy="2057400"/>
          </a:xfrm>
          <a:prstGeom prst="roundRect">
            <a:avLst>
              <a:gd name="adj" fmla="val 444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5" name="ponto-471"/>
          <p:cNvSpPr/>
          <p:nvPr/>
        </p:nvSpPr>
        <p:spPr>
          <a:xfrm>
            <a:off x="4627778" y="4251960"/>
            <a:ext cx="548640" cy="548640"/>
          </a:xfrm>
          <a:prstGeom prst="ellipse">
            <a:avLst/>
          </a:prstGeom>
          <a:solidFill>
            <a:srgbClr val="6F86FF"/>
          </a:solidFill>
          <a:ln w="12700">
            <a:solidFill>
              <a:srgbClr val="6F86FF"/>
            </a:solidFill>
            <a:prstDash val="solid"/>
          </a:ln>
        </p:spPr>
      </p:sp>
      <p:pic>
        <p:nvPicPr>
          <p:cNvPr id="26" name="icone-47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4938" y="4389120"/>
            <a:ext cx="274320" cy="274320"/>
          </a:xfrm>
          <a:prstGeom prst="rect">
            <a:avLst/>
          </a:prstGeom>
        </p:spPr>
      </p:pic>
      <p:sp>
        <p:nvSpPr>
          <p:cNvPr id="27" name="texto-473"/>
          <p:cNvSpPr txBox="1"/>
          <p:nvPr/>
        </p:nvSpPr>
        <p:spPr>
          <a:xfrm>
            <a:off x="5359298" y="427939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App DUC</a:t>
            </a:r>
            <a:endParaRPr lang="en-US" sz="1700" dirty="0"/>
          </a:p>
        </p:txBody>
      </p:sp>
      <p:sp>
        <p:nvSpPr>
          <p:cNvPr id="28" name="texto-474"/>
          <p:cNvSpPr txBox="1"/>
          <p:nvPr/>
        </p:nvSpPr>
        <p:spPr>
          <a:xfrm>
            <a:off x="4627778" y="498348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39A"/>
                </a:solidFill>
              </a:rPr>
              <a:t>Documento Único de Cliente: etapas, Kanban, chat, link público, PDF e colaboradores externos.</a:t>
            </a:r>
            <a:endParaRPr lang="en-US" sz="1250" dirty="0"/>
          </a:p>
        </p:txBody>
      </p:sp>
      <p:sp>
        <p:nvSpPr>
          <p:cNvPr id="29" name="cartao-475"/>
          <p:cNvSpPr/>
          <p:nvPr/>
        </p:nvSpPr>
        <p:spPr>
          <a:xfrm>
            <a:off x="8112557" y="3977640"/>
            <a:ext cx="3484778" cy="2057400"/>
          </a:xfrm>
          <a:prstGeom prst="roundRect">
            <a:avLst>
              <a:gd name="adj" fmla="val 444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0" name="ponto-476"/>
          <p:cNvSpPr/>
          <p:nvPr/>
        </p:nvSpPr>
        <p:spPr>
          <a:xfrm>
            <a:off x="8386877" y="4251960"/>
            <a:ext cx="548640" cy="548640"/>
          </a:xfrm>
          <a:prstGeom prst="ellipse">
            <a:avLst/>
          </a:prstGeom>
          <a:solidFill>
            <a:srgbClr val="A07BF2"/>
          </a:solidFill>
          <a:ln w="12700">
            <a:solidFill>
              <a:srgbClr val="A07BF2"/>
            </a:solidFill>
            <a:prstDash val="solid"/>
          </a:ln>
        </p:spPr>
      </p:sp>
      <p:pic>
        <p:nvPicPr>
          <p:cNvPr id="31" name="icone-47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037" y="4389120"/>
            <a:ext cx="274320" cy="274320"/>
          </a:xfrm>
          <a:prstGeom prst="rect">
            <a:avLst/>
          </a:prstGeom>
        </p:spPr>
      </p:pic>
      <p:sp>
        <p:nvSpPr>
          <p:cNvPr id="32" name="texto-478"/>
          <p:cNvSpPr txBox="1"/>
          <p:nvPr/>
        </p:nvSpPr>
        <p:spPr>
          <a:xfrm>
            <a:off x="9118397" y="4279392"/>
            <a:ext cx="2296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Monitorização</a:t>
            </a:r>
            <a:endParaRPr lang="en-US" sz="1700" dirty="0"/>
          </a:p>
        </p:txBody>
      </p:sp>
      <p:sp>
        <p:nvSpPr>
          <p:cNvPr id="33" name="texto-479"/>
          <p:cNvSpPr txBox="1"/>
          <p:nvPr/>
        </p:nvSpPr>
        <p:spPr>
          <a:xfrm>
            <a:off x="8386877" y="4983480"/>
            <a:ext cx="293613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8A39A"/>
                </a:solidFill>
              </a:rPr>
              <a:t>Erros e falhas silenciosas reportados, alertas de nova sessão, limites contra abusos.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480"/>
          <p:cNvSpPr txBox="1"/>
          <p:nvPr/>
        </p:nvSpPr>
        <p:spPr>
          <a:xfrm>
            <a:off x="59436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6517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 potencial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4348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8A39A"/>
                </a:solidFill>
              </a:rPr>
              <a:t>O que a Olyvia pode valer para o grupo quando estiver a ser usada todos os dias.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481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DADOS PRÓPRIOS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Cada obra torna a próxima mais certa</a:t>
            </a:r>
            <a:endParaRPr lang="en-US" sz="3000" dirty="0"/>
          </a:p>
        </p:txBody>
      </p:sp>
      <p:sp>
        <p:nvSpPr>
          <p:cNvPr id="4" name="ponto-482"/>
          <p:cNvSpPr/>
          <p:nvPr/>
        </p:nvSpPr>
        <p:spPr>
          <a:xfrm>
            <a:off x="2286000" y="2880360"/>
            <a:ext cx="1920240" cy="1920240"/>
          </a:xfrm>
          <a:prstGeom prst="ellipse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5" name="texto-483"/>
          <p:cNvSpPr txBox="1"/>
          <p:nvPr/>
        </p:nvSpPr>
        <p:spPr>
          <a:xfrm>
            <a:off x="2331720" y="32918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Dados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que ninguém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mais tem</a:t>
            </a:r>
            <a:endParaRPr lang="en-US" sz="1500" dirty="0"/>
          </a:p>
        </p:txBody>
      </p:sp>
      <p:sp>
        <p:nvSpPr>
          <p:cNvPr id="6" name="cartao-484"/>
          <p:cNvSpPr/>
          <p:nvPr/>
        </p:nvSpPr>
        <p:spPr>
          <a:xfrm>
            <a:off x="2377440" y="1764792"/>
            <a:ext cx="1737360" cy="768096"/>
          </a:xfrm>
          <a:prstGeom prst="roundRect">
            <a:avLst>
              <a:gd name="adj" fmla="val 11905"/>
            </a:avLst>
          </a:prstGeom>
          <a:solidFill>
            <a:srgbClr val="181818"/>
          </a:solidFill>
          <a:ln w="9525">
            <a:solidFill>
              <a:srgbClr val="67A392"/>
            </a:solidFill>
            <a:prstDash val="solid"/>
          </a:ln>
        </p:spPr>
      </p:sp>
      <p:sp>
        <p:nvSpPr>
          <p:cNvPr id="7" name="texto-485"/>
          <p:cNvSpPr txBox="1"/>
          <p:nvPr/>
        </p:nvSpPr>
        <p:spPr>
          <a:xfrm>
            <a:off x="2377440" y="183794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Visita</a:t>
            </a:r>
            <a:endParaRPr lang="en-US" sz="1500" dirty="0"/>
          </a:p>
        </p:txBody>
      </p:sp>
      <p:sp>
        <p:nvSpPr>
          <p:cNvPr id="8" name="texto-486"/>
          <p:cNvSpPr txBox="1"/>
          <p:nvPr/>
        </p:nvSpPr>
        <p:spPr>
          <a:xfrm>
            <a:off x="2377440" y="217627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39A"/>
                </a:solidFill>
              </a:rPr>
              <a:t>ficha do local e medidas</a:t>
            </a:r>
            <a:endParaRPr lang="en-US" sz="1050" dirty="0"/>
          </a:p>
        </p:txBody>
      </p:sp>
      <p:sp>
        <p:nvSpPr>
          <p:cNvPr id="9" name="cartao-487"/>
          <p:cNvSpPr/>
          <p:nvPr/>
        </p:nvSpPr>
        <p:spPr>
          <a:xfrm>
            <a:off x="4480560" y="3456432"/>
            <a:ext cx="1737360" cy="768096"/>
          </a:xfrm>
          <a:prstGeom prst="roundRect">
            <a:avLst>
              <a:gd name="adj" fmla="val 11905"/>
            </a:avLst>
          </a:prstGeom>
          <a:solidFill>
            <a:srgbClr val="181818"/>
          </a:solidFill>
          <a:ln w="9525">
            <a:solidFill>
              <a:srgbClr val="67A392"/>
            </a:solidFill>
            <a:prstDash val="solid"/>
          </a:ln>
        </p:spPr>
      </p:sp>
      <p:sp>
        <p:nvSpPr>
          <p:cNvPr id="10" name="texto-488"/>
          <p:cNvSpPr txBox="1"/>
          <p:nvPr/>
        </p:nvSpPr>
        <p:spPr>
          <a:xfrm>
            <a:off x="4480560" y="35295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Orçamento</a:t>
            </a:r>
            <a:endParaRPr lang="en-US" sz="1500" dirty="0"/>
          </a:p>
        </p:txBody>
      </p:sp>
      <p:sp>
        <p:nvSpPr>
          <p:cNvPr id="11" name="texto-489"/>
          <p:cNvSpPr txBox="1"/>
          <p:nvPr/>
        </p:nvSpPr>
        <p:spPr>
          <a:xfrm>
            <a:off x="4480560" y="3867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39A"/>
                </a:solidFill>
              </a:rPr>
              <a:t>preço com risco real</a:t>
            </a:r>
            <a:endParaRPr lang="en-US" sz="1050" dirty="0"/>
          </a:p>
        </p:txBody>
      </p:sp>
      <p:sp>
        <p:nvSpPr>
          <p:cNvPr id="12" name="cartao-490"/>
          <p:cNvSpPr/>
          <p:nvPr/>
        </p:nvSpPr>
        <p:spPr>
          <a:xfrm>
            <a:off x="2377440" y="5148072"/>
            <a:ext cx="1737360" cy="768096"/>
          </a:xfrm>
          <a:prstGeom prst="roundRect">
            <a:avLst>
              <a:gd name="adj" fmla="val 11905"/>
            </a:avLst>
          </a:prstGeom>
          <a:solidFill>
            <a:srgbClr val="181818"/>
          </a:solidFill>
          <a:ln w="9525">
            <a:solidFill>
              <a:srgbClr val="67A392"/>
            </a:solidFill>
            <a:prstDash val="solid"/>
          </a:ln>
        </p:spPr>
      </p:sp>
      <p:sp>
        <p:nvSpPr>
          <p:cNvPr id="13" name="texto-491"/>
          <p:cNvSpPr txBox="1"/>
          <p:nvPr/>
        </p:nvSpPr>
        <p:spPr>
          <a:xfrm>
            <a:off x="2377440" y="522122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Obra</a:t>
            </a:r>
            <a:endParaRPr lang="en-US" sz="1500" dirty="0"/>
          </a:p>
        </p:txBody>
      </p:sp>
      <p:sp>
        <p:nvSpPr>
          <p:cNvPr id="14" name="texto-492"/>
          <p:cNvSpPr txBox="1"/>
          <p:nvPr/>
        </p:nvSpPr>
        <p:spPr>
          <a:xfrm>
            <a:off x="2377440" y="555955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39A"/>
                </a:solidFill>
              </a:rPr>
              <a:t>tempos reais por tarefa</a:t>
            </a:r>
            <a:endParaRPr lang="en-US" sz="1050" dirty="0"/>
          </a:p>
        </p:txBody>
      </p:sp>
      <p:sp>
        <p:nvSpPr>
          <p:cNvPr id="15" name="cartao-493"/>
          <p:cNvSpPr/>
          <p:nvPr/>
        </p:nvSpPr>
        <p:spPr>
          <a:xfrm>
            <a:off x="274320" y="3456432"/>
            <a:ext cx="1737360" cy="768096"/>
          </a:xfrm>
          <a:prstGeom prst="roundRect">
            <a:avLst>
              <a:gd name="adj" fmla="val 11905"/>
            </a:avLst>
          </a:prstGeom>
          <a:solidFill>
            <a:srgbClr val="181818"/>
          </a:solidFill>
          <a:ln w="9525">
            <a:solidFill>
              <a:srgbClr val="67A392"/>
            </a:solidFill>
            <a:prstDash val="solid"/>
          </a:ln>
        </p:spPr>
      </p:sp>
      <p:sp>
        <p:nvSpPr>
          <p:cNvPr id="16" name="texto-494"/>
          <p:cNvSpPr txBox="1"/>
          <p:nvPr/>
        </p:nvSpPr>
        <p:spPr>
          <a:xfrm>
            <a:off x="274320" y="3529584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Motor</a:t>
            </a:r>
            <a:endParaRPr lang="en-US" sz="1500" dirty="0"/>
          </a:p>
        </p:txBody>
      </p:sp>
      <p:sp>
        <p:nvSpPr>
          <p:cNvPr id="17" name="texto-495"/>
          <p:cNvSpPr txBox="1"/>
          <p:nvPr/>
        </p:nvSpPr>
        <p:spPr>
          <a:xfrm>
            <a:off x="274320" y="38679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A8A39A"/>
                </a:solidFill>
              </a:rPr>
              <a:t>ajusta os tempos padrão</a:t>
            </a:r>
            <a:endParaRPr lang="en-US" sz="1050" dirty="0"/>
          </a:p>
        </p:txBody>
      </p:sp>
      <p:sp>
        <p:nvSpPr>
          <p:cNvPr id="18" name="seta-496"/>
          <p:cNvSpPr/>
          <p:nvPr/>
        </p:nvSpPr>
        <p:spPr>
          <a:xfrm>
            <a:off x="4114800" y="2148840"/>
            <a:ext cx="868680" cy="914400"/>
          </a:xfrm>
          <a:prstGeom prst="line">
            <a:avLst/>
          </a:prstGeom>
          <a:noFill/>
          <a:ln w="19050">
            <a:solidFill>
              <a:srgbClr val="67A392"/>
            </a:solidFill>
            <a:prstDash val="solid"/>
            <a:tailEnd type="triangle"/>
          </a:ln>
        </p:spPr>
      </p:sp>
      <p:sp>
        <p:nvSpPr>
          <p:cNvPr id="19" name="seta-497"/>
          <p:cNvSpPr/>
          <p:nvPr/>
        </p:nvSpPr>
        <p:spPr>
          <a:xfrm flipH="1">
            <a:off x="4114800" y="4251960"/>
            <a:ext cx="868680" cy="914400"/>
          </a:xfrm>
          <a:prstGeom prst="line">
            <a:avLst/>
          </a:prstGeom>
          <a:noFill/>
          <a:ln w="19050">
            <a:solidFill>
              <a:srgbClr val="67A392"/>
            </a:solidFill>
            <a:prstDash val="solid"/>
            <a:tailEnd type="triangle"/>
          </a:ln>
        </p:spPr>
      </p:sp>
      <p:sp>
        <p:nvSpPr>
          <p:cNvPr id="20" name="seta-498"/>
          <p:cNvSpPr/>
          <p:nvPr/>
        </p:nvSpPr>
        <p:spPr>
          <a:xfrm flipH="1" flipV="1">
            <a:off x="1508760" y="4617720"/>
            <a:ext cx="868680" cy="914400"/>
          </a:xfrm>
          <a:prstGeom prst="line">
            <a:avLst/>
          </a:prstGeom>
          <a:noFill/>
          <a:ln w="19050">
            <a:solidFill>
              <a:srgbClr val="67A392"/>
            </a:solidFill>
            <a:prstDash val="solid"/>
            <a:tailEnd type="triangle"/>
          </a:ln>
        </p:spPr>
      </p:sp>
      <p:sp>
        <p:nvSpPr>
          <p:cNvPr id="21" name="seta-499"/>
          <p:cNvSpPr/>
          <p:nvPr/>
        </p:nvSpPr>
        <p:spPr>
          <a:xfrm flipV="1">
            <a:off x="1508760" y="2514600"/>
            <a:ext cx="868680" cy="914400"/>
          </a:xfrm>
          <a:prstGeom prst="line">
            <a:avLst/>
          </a:prstGeom>
          <a:noFill/>
          <a:ln w="19050">
            <a:solidFill>
              <a:srgbClr val="67A392"/>
            </a:solidFill>
            <a:prstDash val="solid"/>
            <a:tailEnd type="triangle"/>
          </a:ln>
        </p:spPr>
      </p:sp>
      <p:sp>
        <p:nvSpPr>
          <p:cNvPr id="22" name="texto-500"/>
          <p:cNvSpPr txBox="1"/>
          <p:nvPr/>
        </p:nvSpPr>
        <p:spPr>
          <a:xfrm>
            <a:off x="6400800" y="1691640"/>
            <a:ext cx="5196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Orçamentos mais certos</a:t>
            </a:r>
            <a:endParaRPr lang="en-US" sz="1700" dirty="0"/>
          </a:p>
        </p:txBody>
      </p:sp>
      <p:sp>
        <p:nvSpPr>
          <p:cNvPr id="23" name="texto-501"/>
          <p:cNvSpPr txBox="1"/>
          <p:nvPr/>
        </p:nvSpPr>
        <p:spPr>
          <a:xfrm>
            <a:off x="6400800" y="2039112"/>
            <a:ext cx="5196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O custo de uma casa difícil (acesso, estacionamento, mobília) passa a estar no preço, não na margem perdida.</a:t>
            </a:r>
            <a:endParaRPr lang="en-US" sz="1300" dirty="0"/>
          </a:p>
        </p:txBody>
      </p:sp>
      <p:sp>
        <p:nvSpPr>
          <p:cNvPr id="24" name="texto-502"/>
          <p:cNvSpPr txBox="1"/>
          <p:nvPr/>
        </p:nvSpPr>
        <p:spPr>
          <a:xfrm>
            <a:off x="6400800" y="2770632"/>
            <a:ext cx="5196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Prazos que se cumprem</a:t>
            </a:r>
            <a:endParaRPr lang="en-US" sz="1700" dirty="0"/>
          </a:p>
        </p:txBody>
      </p:sp>
      <p:sp>
        <p:nvSpPr>
          <p:cNvPr id="25" name="texto-503"/>
          <p:cNvSpPr txBox="1"/>
          <p:nvPr/>
        </p:nvSpPr>
        <p:spPr>
          <a:xfrm>
            <a:off x="6400800" y="3118104"/>
            <a:ext cx="5196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Os tempos deixam de ser estimativas: vêm de obras reais, por tipo de casa e de área.</a:t>
            </a:r>
            <a:endParaRPr lang="en-US" sz="1300" dirty="0"/>
          </a:p>
        </p:txBody>
      </p:sp>
      <p:sp>
        <p:nvSpPr>
          <p:cNvPr id="26" name="texto-504"/>
          <p:cNvSpPr txBox="1"/>
          <p:nvPr/>
        </p:nvSpPr>
        <p:spPr>
          <a:xfrm>
            <a:off x="6400800" y="3849624"/>
            <a:ext cx="5196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Melhor uso das equipas</a:t>
            </a:r>
            <a:endParaRPr lang="en-US" sz="1700" dirty="0"/>
          </a:p>
        </p:txBody>
      </p:sp>
      <p:sp>
        <p:nvSpPr>
          <p:cNvPr id="27" name="texto-505"/>
          <p:cNvSpPr txBox="1"/>
          <p:nvPr/>
        </p:nvSpPr>
        <p:spPr>
          <a:xfrm>
            <a:off x="6400800" y="4197096"/>
            <a:ext cx="5196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Quem está livre, quando, e onde: o plano encaixa as obras sem choques.</a:t>
            </a:r>
            <a:endParaRPr lang="en-US" sz="1300" dirty="0"/>
          </a:p>
        </p:txBody>
      </p:sp>
      <p:sp>
        <p:nvSpPr>
          <p:cNvPr id="28" name="texto-506"/>
          <p:cNvSpPr txBox="1"/>
          <p:nvPr/>
        </p:nvSpPr>
        <p:spPr>
          <a:xfrm>
            <a:off x="6400800" y="4928616"/>
            <a:ext cx="519653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Um ativo do grupo</a:t>
            </a:r>
            <a:endParaRPr lang="en-US" sz="1700" dirty="0"/>
          </a:p>
        </p:txBody>
      </p:sp>
      <p:sp>
        <p:nvSpPr>
          <p:cNvPr id="29" name="texto-507"/>
          <p:cNvSpPr txBox="1"/>
          <p:nvPr/>
        </p:nvSpPr>
        <p:spPr>
          <a:xfrm>
            <a:off x="6400800" y="5276088"/>
            <a:ext cx="5196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Fotografias, medidas e tempos de centenas de casas, bem organizados. Ninguém no setor os tem.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508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F86FF"/>
                </a:solidFill>
              </a:rPr>
              <a:t>DO LAR AO EDIFÍCIO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 mesma plataforma pode servir a manutenção da BMG</a:t>
            </a:r>
            <a:endParaRPr lang="en-US" sz="3000" dirty="0"/>
          </a:p>
        </p:txBody>
      </p:sp>
      <p:sp>
        <p:nvSpPr>
          <p:cNvPr id="4" name="cartao-509"/>
          <p:cNvSpPr/>
          <p:nvPr/>
        </p:nvSpPr>
        <p:spPr>
          <a:xfrm>
            <a:off x="594360" y="1783080"/>
            <a:ext cx="2442134" cy="18288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 w="9525">
            <a:solidFill>
              <a:srgbClr val="1F3B33"/>
            </a:solidFill>
            <a:prstDash val="solid"/>
          </a:ln>
        </p:spPr>
      </p:sp>
      <p:sp>
        <p:nvSpPr>
          <p:cNvPr id="5" name="ponto-510"/>
          <p:cNvSpPr/>
          <p:nvPr/>
        </p:nvSpPr>
        <p:spPr>
          <a:xfrm>
            <a:off x="868680" y="2011680"/>
            <a:ext cx="594360" cy="594360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pic>
        <p:nvPicPr>
          <p:cNvPr id="6" name="icone-51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270" y="2160270"/>
            <a:ext cx="297180" cy="297180"/>
          </a:xfrm>
          <a:prstGeom prst="rect">
            <a:avLst/>
          </a:prstGeom>
        </p:spPr>
      </p:pic>
      <p:sp>
        <p:nvSpPr>
          <p:cNvPr id="7" name="texto-512"/>
          <p:cNvSpPr txBox="1"/>
          <p:nvPr/>
        </p:nvSpPr>
        <p:spPr>
          <a:xfrm>
            <a:off x="868680" y="2743200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Obra concluída</a:t>
            </a:r>
            <a:endParaRPr lang="en-US" sz="1600" dirty="0"/>
          </a:p>
        </p:txBody>
      </p:sp>
      <p:sp>
        <p:nvSpPr>
          <p:cNvPr id="8" name="texto-513"/>
          <p:cNvSpPr txBox="1"/>
          <p:nvPr/>
        </p:nvSpPr>
        <p:spPr>
          <a:xfrm>
            <a:off x="868680" y="3108960"/>
            <a:ext cx="1984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39A"/>
                </a:solidFill>
              </a:rPr>
              <a:t>Mudelar</a:t>
            </a:r>
            <a:endParaRPr lang="en-US" sz="1250" dirty="0"/>
          </a:p>
        </p:txBody>
      </p:sp>
      <p:sp>
        <p:nvSpPr>
          <p:cNvPr id="9" name="seta-514"/>
          <p:cNvSpPr/>
          <p:nvPr/>
        </p:nvSpPr>
        <p:spPr>
          <a:xfrm>
            <a:off x="3082214" y="2697480"/>
            <a:ext cx="320040" cy="0"/>
          </a:xfrm>
          <a:prstGeom prst="line">
            <a:avLst/>
          </a:prstGeom>
          <a:noFill/>
          <a:ln w="25400">
            <a:solidFill>
              <a:srgbClr val="6E6A64"/>
            </a:solidFill>
            <a:prstDash val="solid"/>
            <a:tailEnd type="triangle"/>
          </a:ln>
        </p:spPr>
      </p:sp>
      <p:sp>
        <p:nvSpPr>
          <p:cNvPr id="10" name="cartao-515"/>
          <p:cNvSpPr/>
          <p:nvPr/>
        </p:nvSpPr>
        <p:spPr>
          <a:xfrm>
            <a:off x="3447974" y="1783080"/>
            <a:ext cx="2442134" cy="18288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 w="9525">
            <a:solidFill>
              <a:srgbClr val="1E2A55"/>
            </a:solidFill>
            <a:prstDash val="solid"/>
          </a:ln>
        </p:spPr>
      </p:sp>
      <p:sp>
        <p:nvSpPr>
          <p:cNvPr id="11" name="ponto-516"/>
          <p:cNvSpPr/>
          <p:nvPr/>
        </p:nvSpPr>
        <p:spPr>
          <a:xfrm>
            <a:off x="3722294" y="2011680"/>
            <a:ext cx="594360" cy="594360"/>
          </a:xfrm>
          <a:prstGeom prst="ellipse">
            <a:avLst/>
          </a:prstGeom>
          <a:solidFill>
            <a:srgbClr val="6F86FF"/>
          </a:solidFill>
          <a:ln w="12700">
            <a:solidFill>
              <a:srgbClr val="6F86FF"/>
            </a:solidFill>
            <a:prstDash val="solid"/>
          </a:ln>
        </p:spPr>
      </p:sp>
      <p:pic>
        <p:nvPicPr>
          <p:cNvPr id="12" name="icone-517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0884" y="2160270"/>
            <a:ext cx="297180" cy="297180"/>
          </a:xfrm>
          <a:prstGeom prst="rect">
            <a:avLst/>
          </a:prstGeom>
        </p:spPr>
      </p:pic>
      <p:sp>
        <p:nvSpPr>
          <p:cNvPr id="13" name="texto-518"/>
          <p:cNvSpPr txBox="1"/>
          <p:nvPr/>
        </p:nvSpPr>
        <p:spPr>
          <a:xfrm>
            <a:off x="3722294" y="2743200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Equipamentos</a:t>
            </a:r>
            <a:endParaRPr lang="en-US" sz="1600" dirty="0"/>
          </a:p>
        </p:txBody>
      </p:sp>
      <p:sp>
        <p:nvSpPr>
          <p:cNvPr id="14" name="texto-519"/>
          <p:cNvSpPr txBox="1"/>
          <p:nvPr/>
        </p:nvSpPr>
        <p:spPr>
          <a:xfrm>
            <a:off x="3722294" y="3108960"/>
            <a:ext cx="1984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39A"/>
                </a:solidFill>
              </a:rPr>
              <a:t>registados no local do cliente</a:t>
            </a:r>
            <a:endParaRPr lang="en-US" sz="1250" dirty="0"/>
          </a:p>
        </p:txBody>
      </p:sp>
      <p:sp>
        <p:nvSpPr>
          <p:cNvPr id="15" name="seta-520"/>
          <p:cNvSpPr/>
          <p:nvPr/>
        </p:nvSpPr>
        <p:spPr>
          <a:xfrm>
            <a:off x="5935828" y="2697480"/>
            <a:ext cx="320040" cy="0"/>
          </a:xfrm>
          <a:prstGeom prst="line">
            <a:avLst/>
          </a:prstGeom>
          <a:noFill/>
          <a:ln w="25400">
            <a:solidFill>
              <a:srgbClr val="6E6A64"/>
            </a:solidFill>
            <a:prstDash val="solid"/>
            <a:tailEnd type="triangle"/>
          </a:ln>
        </p:spPr>
      </p:sp>
      <p:sp>
        <p:nvSpPr>
          <p:cNvPr id="16" name="cartao-521"/>
          <p:cNvSpPr/>
          <p:nvPr/>
        </p:nvSpPr>
        <p:spPr>
          <a:xfrm>
            <a:off x="6301588" y="1783080"/>
            <a:ext cx="2442134" cy="18288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 w="9525">
            <a:solidFill>
              <a:srgbClr val="1E2A55"/>
            </a:solidFill>
            <a:prstDash val="solid"/>
          </a:ln>
        </p:spPr>
      </p:sp>
      <p:sp>
        <p:nvSpPr>
          <p:cNvPr id="17" name="ponto-522"/>
          <p:cNvSpPr/>
          <p:nvPr/>
        </p:nvSpPr>
        <p:spPr>
          <a:xfrm>
            <a:off x="6575908" y="2011680"/>
            <a:ext cx="594360" cy="594360"/>
          </a:xfrm>
          <a:prstGeom prst="ellipse">
            <a:avLst/>
          </a:prstGeom>
          <a:solidFill>
            <a:srgbClr val="6F86FF"/>
          </a:solidFill>
          <a:ln w="12700">
            <a:solidFill>
              <a:srgbClr val="6F86FF"/>
            </a:solidFill>
            <a:prstDash val="solid"/>
          </a:ln>
        </p:spPr>
      </p:sp>
      <p:pic>
        <p:nvPicPr>
          <p:cNvPr id="18" name="icone-52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498" y="2160270"/>
            <a:ext cx="297180" cy="297180"/>
          </a:xfrm>
          <a:prstGeom prst="rect">
            <a:avLst/>
          </a:prstGeom>
        </p:spPr>
      </p:pic>
      <p:sp>
        <p:nvSpPr>
          <p:cNvPr id="19" name="texto-524"/>
          <p:cNvSpPr txBox="1"/>
          <p:nvPr/>
        </p:nvSpPr>
        <p:spPr>
          <a:xfrm>
            <a:off x="6575908" y="2743200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Plano preventivo</a:t>
            </a:r>
            <a:endParaRPr lang="en-US" sz="1600" dirty="0"/>
          </a:p>
        </p:txBody>
      </p:sp>
      <p:sp>
        <p:nvSpPr>
          <p:cNvPr id="20" name="texto-525"/>
          <p:cNvSpPr txBox="1"/>
          <p:nvPr/>
        </p:nvSpPr>
        <p:spPr>
          <a:xfrm>
            <a:off x="6575908" y="3108960"/>
            <a:ext cx="1984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39A"/>
                </a:solidFill>
              </a:rPr>
              <a:t>gera ordens sozinho</a:t>
            </a:r>
            <a:endParaRPr lang="en-US" sz="1250" dirty="0"/>
          </a:p>
        </p:txBody>
      </p:sp>
      <p:sp>
        <p:nvSpPr>
          <p:cNvPr id="21" name="seta-526"/>
          <p:cNvSpPr/>
          <p:nvPr/>
        </p:nvSpPr>
        <p:spPr>
          <a:xfrm>
            <a:off x="8789441" y="2697480"/>
            <a:ext cx="320040" cy="0"/>
          </a:xfrm>
          <a:prstGeom prst="line">
            <a:avLst/>
          </a:prstGeom>
          <a:noFill/>
          <a:ln w="25400">
            <a:solidFill>
              <a:srgbClr val="6E6A64"/>
            </a:solidFill>
            <a:prstDash val="solid"/>
            <a:tailEnd type="triangle"/>
          </a:ln>
        </p:spPr>
      </p:sp>
      <p:sp>
        <p:nvSpPr>
          <p:cNvPr id="22" name="cartao-527"/>
          <p:cNvSpPr/>
          <p:nvPr/>
        </p:nvSpPr>
        <p:spPr>
          <a:xfrm>
            <a:off x="9155201" y="1783080"/>
            <a:ext cx="2442134" cy="1828800"/>
          </a:xfrm>
          <a:prstGeom prst="roundRect">
            <a:avLst>
              <a:gd name="adj" fmla="val 5000"/>
            </a:avLst>
          </a:prstGeom>
          <a:solidFill>
            <a:srgbClr val="181818"/>
          </a:solidFill>
          <a:ln w="9525">
            <a:solidFill>
              <a:srgbClr val="1E2A55"/>
            </a:solidFill>
            <a:prstDash val="solid"/>
          </a:ln>
        </p:spPr>
      </p:sp>
      <p:sp>
        <p:nvSpPr>
          <p:cNvPr id="23" name="ponto-528"/>
          <p:cNvSpPr/>
          <p:nvPr/>
        </p:nvSpPr>
        <p:spPr>
          <a:xfrm>
            <a:off x="9429521" y="2011680"/>
            <a:ext cx="594360" cy="594360"/>
          </a:xfrm>
          <a:prstGeom prst="ellipse">
            <a:avLst/>
          </a:prstGeom>
          <a:solidFill>
            <a:srgbClr val="6F86FF"/>
          </a:solidFill>
          <a:ln w="12700">
            <a:solidFill>
              <a:srgbClr val="6F86FF"/>
            </a:solidFill>
            <a:prstDash val="solid"/>
          </a:ln>
        </p:spPr>
      </p:sp>
      <p:pic>
        <p:nvPicPr>
          <p:cNvPr id="24" name="icone-52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8111" y="2160270"/>
            <a:ext cx="297180" cy="297180"/>
          </a:xfrm>
          <a:prstGeom prst="rect">
            <a:avLst/>
          </a:prstGeom>
        </p:spPr>
      </p:pic>
      <p:sp>
        <p:nvSpPr>
          <p:cNvPr id="25" name="texto-530"/>
          <p:cNvSpPr txBox="1"/>
          <p:nvPr/>
        </p:nvSpPr>
        <p:spPr>
          <a:xfrm>
            <a:off x="9429521" y="2743200"/>
            <a:ext cx="198493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Técnico no local</a:t>
            </a:r>
            <a:endParaRPr lang="en-US" sz="1600" dirty="0"/>
          </a:p>
        </p:txBody>
      </p:sp>
      <p:sp>
        <p:nvSpPr>
          <p:cNvPr id="26" name="texto-531"/>
          <p:cNvSpPr txBox="1"/>
          <p:nvPr/>
        </p:nvSpPr>
        <p:spPr>
          <a:xfrm>
            <a:off x="9429521" y="3108960"/>
            <a:ext cx="19849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8A39A"/>
                </a:solidFill>
              </a:rPr>
              <a:t>checklist, fotos, relatório</a:t>
            </a:r>
            <a:endParaRPr lang="en-US" sz="1250" dirty="0"/>
          </a:p>
        </p:txBody>
      </p:sp>
      <p:sp>
        <p:nvSpPr>
          <p:cNvPr id="27" name="cartao-532"/>
          <p:cNvSpPr/>
          <p:nvPr/>
        </p:nvSpPr>
        <p:spPr>
          <a:xfrm>
            <a:off x="594360" y="393192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8" name="texto-533"/>
          <p:cNvSpPr txBox="1"/>
          <p:nvPr/>
        </p:nvSpPr>
        <p:spPr>
          <a:xfrm>
            <a:off x="91440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1CEBA"/>
                </a:solidFill>
              </a:rPr>
              <a:t>JÁ EXISTE NAS OPERAÇÕES</a:t>
            </a:r>
            <a:endParaRPr lang="en-US" sz="1100" dirty="0"/>
          </a:p>
        </p:txBody>
      </p:sp>
      <p:sp>
        <p:nvSpPr>
          <p:cNvPr id="29" name="texto-534"/>
          <p:cNvSpPr txBox="1"/>
          <p:nvPr/>
        </p:nvSpPr>
        <p:spPr>
          <a:xfrm>
            <a:off x="914400" y="44805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Locais, equipamentos, medições e checklists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Planos preventivos que geram ordens de trabalho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Ordens atribuídas, agendadas e respondidas no telemóvel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Custos, orçamentado contra gasto e relatório PDF</a:t>
            </a:r>
            <a:endParaRPr lang="en-US" sz="1300" dirty="0"/>
          </a:p>
        </p:txBody>
      </p:sp>
      <p:sp>
        <p:nvSpPr>
          <p:cNvPr id="30" name="cartao-535"/>
          <p:cNvSpPr/>
          <p:nvPr/>
        </p:nvSpPr>
        <p:spPr>
          <a:xfrm>
            <a:off x="6355080" y="3931920"/>
            <a:ext cx="5242255" cy="2103120"/>
          </a:xfrm>
          <a:prstGeom prst="roundRect">
            <a:avLst>
              <a:gd name="adj" fmla="val 4348"/>
            </a:avLst>
          </a:prstGeom>
          <a:solidFill>
            <a:srgbClr val="121A33"/>
          </a:solidFill>
          <a:ln w="9525">
            <a:solidFill>
              <a:srgbClr val="1E2A55"/>
            </a:solidFill>
            <a:prstDash val="solid"/>
          </a:ln>
        </p:spPr>
      </p:sp>
      <p:sp>
        <p:nvSpPr>
          <p:cNvPr id="31" name="texto-536"/>
          <p:cNvSpPr txBox="1"/>
          <p:nvPr/>
        </p:nvSpPr>
        <p:spPr>
          <a:xfrm>
            <a:off x="6675120" y="4114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F86FF"/>
                </a:solidFill>
              </a:rPr>
              <a:t>O QUE FALTA PARA A BMG</a:t>
            </a:r>
            <a:endParaRPr lang="en-US" sz="1100" dirty="0"/>
          </a:p>
        </p:txBody>
      </p:sp>
      <p:sp>
        <p:nvSpPr>
          <p:cNvPr id="32" name="texto-537"/>
          <p:cNvSpPr txBox="1"/>
          <p:nvPr/>
        </p:nvSpPr>
        <p:spPr>
          <a:xfrm>
            <a:off x="6675120" y="4480560"/>
            <a:ext cx="46021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Integrar o trabalho de setembro: QR nos equipamentos, rota do dia, assinatura no telemóvel, sem rede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Avisos no sino e agenda a contar com férias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5F0E8"/>
                </a:solidFill>
              </a:rPr>
              <a:t>Um piloto: um edifício, um técnico, uma semana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538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A07BF2"/>
                </a:solidFill>
              </a:rPr>
              <a:t>PARA LÁ DO GRUPO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Já preparada para outras empresas</a:t>
            </a:r>
            <a:endParaRPr lang="en-US" sz="3000" dirty="0"/>
          </a:p>
        </p:txBody>
      </p:sp>
      <p:sp>
        <p:nvSpPr>
          <p:cNvPr id="4" name="cartao-539"/>
          <p:cNvSpPr/>
          <p:nvPr/>
        </p:nvSpPr>
        <p:spPr>
          <a:xfrm>
            <a:off x="594360" y="1691640"/>
            <a:ext cx="348477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5" name="ponto-540"/>
          <p:cNvSpPr/>
          <p:nvPr/>
        </p:nvSpPr>
        <p:spPr>
          <a:xfrm>
            <a:off x="822960" y="1920240"/>
            <a:ext cx="502920" cy="502920"/>
          </a:xfrm>
          <a:prstGeom prst="ellipse">
            <a:avLst/>
          </a:prstGeom>
          <a:solidFill>
            <a:srgbClr val="A07BF2"/>
          </a:solidFill>
          <a:ln w="12700">
            <a:solidFill>
              <a:srgbClr val="A07BF2"/>
            </a:solidFill>
            <a:prstDash val="solid"/>
          </a:ln>
        </p:spPr>
      </p:sp>
      <p:pic>
        <p:nvPicPr>
          <p:cNvPr id="6" name="icone-54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8690" y="2045970"/>
            <a:ext cx="251460" cy="251460"/>
          </a:xfrm>
          <a:prstGeom prst="rect">
            <a:avLst/>
          </a:prstGeom>
        </p:spPr>
      </p:pic>
      <p:sp>
        <p:nvSpPr>
          <p:cNvPr id="7" name="texto-542"/>
          <p:cNvSpPr txBox="1"/>
          <p:nvPr/>
        </p:nvSpPr>
        <p:spPr>
          <a:xfrm>
            <a:off x="1463040" y="1892808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Várias empresas</a:t>
            </a:r>
            <a:endParaRPr lang="en-US" sz="1500" dirty="0"/>
          </a:p>
        </p:txBody>
      </p:sp>
      <p:sp>
        <p:nvSpPr>
          <p:cNvPr id="8" name="texto-543"/>
          <p:cNvSpPr txBox="1"/>
          <p:nvPr/>
        </p:nvSpPr>
        <p:spPr>
          <a:xfrm>
            <a:off x="1463040" y="224028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Cada empresa vê só os seus dados, com a sua marca nos emails</a:t>
            </a:r>
            <a:endParaRPr lang="en-US" sz="1200" dirty="0"/>
          </a:p>
        </p:txBody>
      </p:sp>
      <p:sp>
        <p:nvSpPr>
          <p:cNvPr id="9" name="cartao-544"/>
          <p:cNvSpPr/>
          <p:nvPr/>
        </p:nvSpPr>
        <p:spPr>
          <a:xfrm>
            <a:off x="4353458" y="1691640"/>
            <a:ext cx="348477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0" name="ponto-545"/>
          <p:cNvSpPr/>
          <p:nvPr/>
        </p:nvSpPr>
        <p:spPr>
          <a:xfrm>
            <a:off x="4582058" y="1920240"/>
            <a:ext cx="502920" cy="502920"/>
          </a:xfrm>
          <a:prstGeom prst="ellipse">
            <a:avLst/>
          </a:prstGeom>
          <a:solidFill>
            <a:srgbClr val="A07BF2"/>
          </a:solidFill>
          <a:ln w="12700">
            <a:solidFill>
              <a:srgbClr val="A07BF2"/>
            </a:solidFill>
            <a:prstDash val="solid"/>
          </a:ln>
        </p:spPr>
      </p:sp>
      <p:pic>
        <p:nvPicPr>
          <p:cNvPr id="11" name="icone-54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788" y="2045970"/>
            <a:ext cx="251460" cy="251460"/>
          </a:xfrm>
          <a:prstGeom prst="rect">
            <a:avLst/>
          </a:prstGeom>
        </p:spPr>
      </p:pic>
      <p:sp>
        <p:nvSpPr>
          <p:cNvPr id="12" name="texto-547"/>
          <p:cNvSpPr txBox="1"/>
          <p:nvPr/>
        </p:nvSpPr>
        <p:spPr>
          <a:xfrm>
            <a:off x="5222138" y="1892808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Planos e limites</a:t>
            </a:r>
            <a:endParaRPr lang="en-US" sz="1500" dirty="0"/>
          </a:p>
        </p:txBody>
      </p:sp>
      <p:sp>
        <p:nvSpPr>
          <p:cNvPr id="13" name="texto-548"/>
          <p:cNvSpPr txBox="1"/>
          <p:nvPr/>
        </p:nvSpPr>
        <p:spPr>
          <a:xfrm>
            <a:off x="5222138" y="224028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Leads, utilizadores, propostas e contratos limitados por plano, com avisos</a:t>
            </a:r>
            <a:endParaRPr lang="en-US" sz="1200" dirty="0"/>
          </a:p>
        </p:txBody>
      </p:sp>
      <p:sp>
        <p:nvSpPr>
          <p:cNvPr id="14" name="cartao-549"/>
          <p:cNvSpPr/>
          <p:nvPr/>
        </p:nvSpPr>
        <p:spPr>
          <a:xfrm>
            <a:off x="8112557" y="1691640"/>
            <a:ext cx="348477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5" name="ponto-550"/>
          <p:cNvSpPr/>
          <p:nvPr/>
        </p:nvSpPr>
        <p:spPr>
          <a:xfrm>
            <a:off x="8341157" y="1920240"/>
            <a:ext cx="502920" cy="502920"/>
          </a:xfrm>
          <a:prstGeom prst="ellipse">
            <a:avLst/>
          </a:prstGeom>
          <a:solidFill>
            <a:srgbClr val="A07BF2"/>
          </a:solidFill>
          <a:ln w="12700">
            <a:solidFill>
              <a:srgbClr val="A07BF2"/>
            </a:solidFill>
            <a:prstDash val="solid"/>
          </a:ln>
        </p:spPr>
      </p:sp>
      <p:pic>
        <p:nvPicPr>
          <p:cNvPr id="16" name="icone-55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6887" y="2045970"/>
            <a:ext cx="251460" cy="251460"/>
          </a:xfrm>
          <a:prstGeom prst="rect">
            <a:avLst/>
          </a:prstGeom>
        </p:spPr>
      </p:pic>
      <p:sp>
        <p:nvSpPr>
          <p:cNvPr id="17" name="texto-552"/>
          <p:cNvSpPr txBox="1"/>
          <p:nvPr/>
        </p:nvSpPr>
        <p:spPr>
          <a:xfrm>
            <a:off x="8981237" y="1892808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Teste grátis</a:t>
            </a:r>
            <a:endParaRPr lang="en-US" sz="1500" dirty="0"/>
          </a:p>
        </p:txBody>
      </p:sp>
      <p:sp>
        <p:nvSpPr>
          <p:cNvPr id="18" name="texto-553"/>
          <p:cNvSpPr txBox="1"/>
          <p:nvPr/>
        </p:nvSpPr>
        <p:spPr>
          <a:xfrm>
            <a:off x="8981237" y="224028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14 dias para experimentar, sem registo aberto no login</a:t>
            </a:r>
            <a:endParaRPr lang="en-US" sz="1200" dirty="0"/>
          </a:p>
        </p:txBody>
      </p:sp>
      <p:sp>
        <p:nvSpPr>
          <p:cNvPr id="19" name="cartao-554"/>
          <p:cNvSpPr/>
          <p:nvPr/>
        </p:nvSpPr>
        <p:spPr>
          <a:xfrm>
            <a:off x="594360" y="3108960"/>
            <a:ext cx="348477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0" name="ponto-555"/>
          <p:cNvSpPr/>
          <p:nvPr/>
        </p:nvSpPr>
        <p:spPr>
          <a:xfrm>
            <a:off x="822960" y="3337560"/>
            <a:ext cx="502920" cy="502920"/>
          </a:xfrm>
          <a:prstGeom prst="ellipse">
            <a:avLst/>
          </a:prstGeom>
          <a:solidFill>
            <a:srgbClr val="A07BF2"/>
          </a:solidFill>
          <a:ln w="12700">
            <a:solidFill>
              <a:srgbClr val="A07BF2"/>
            </a:solidFill>
            <a:prstDash val="solid"/>
          </a:ln>
        </p:spPr>
      </p:sp>
      <p:pic>
        <p:nvPicPr>
          <p:cNvPr id="21" name="icone-55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90" y="3463290"/>
            <a:ext cx="251460" cy="251460"/>
          </a:xfrm>
          <a:prstGeom prst="rect">
            <a:avLst/>
          </a:prstGeom>
        </p:spPr>
      </p:pic>
      <p:sp>
        <p:nvSpPr>
          <p:cNvPr id="22" name="texto-557"/>
          <p:cNvSpPr txBox="1"/>
          <p:nvPr/>
        </p:nvSpPr>
        <p:spPr>
          <a:xfrm>
            <a:off x="1463040" y="3310128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Pagamentos</a:t>
            </a:r>
            <a:endParaRPr lang="en-US" sz="1500" dirty="0"/>
          </a:p>
        </p:txBody>
      </p:sp>
      <p:sp>
        <p:nvSpPr>
          <p:cNvPr id="23" name="texto-558"/>
          <p:cNvSpPr txBox="1"/>
          <p:nvPr/>
        </p:nvSpPr>
        <p:spPr>
          <a:xfrm>
            <a:off x="1463040" y="365760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Stripe preparado, por ativar</a:t>
            </a:r>
            <a:endParaRPr lang="en-US" sz="1200" dirty="0"/>
          </a:p>
        </p:txBody>
      </p:sp>
      <p:sp>
        <p:nvSpPr>
          <p:cNvPr id="24" name="cartao-559"/>
          <p:cNvSpPr/>
          <p:nvPr/>
        </p:nvSpPr>
        <p:spPr>
          <a:xfrm>
            <a:off x="4353458" y="3108960"/>
            <a:ext cx="348477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5" name="ponto-560"/>
          <p:cNvSpPr/>
          <p:nvPr/>
        </p:nvSpPr>
        <p:spPr>
          <a:xfrm>
            <a:off x="4582058" y="3337560"/>
            <a:ext cx="502920" cy="502920"/>
          </a:xfrm>
          <a:prstGeom prst="ellipse">
            <a:avLst/>
          </a:prstGeom>
          <a:solidFill>
            <a:srgbClr val="A07BF2"/>
          </a:solidFill>
          <a:ln w="12700">
            <a:solidFill>
              <a:srgbClr val="A07BF2"/>
            </a:solidFill>
            <a:prstDash val="solid"/>
          </a:ln>
        </p:spPr>
      </p:sp>
      <p:pic>
        <p:nvPicPr>
          <p:cNvPr id="26" name="icone-56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788" y="3463290"/>
            <a:ext cx="251460" cy="251460"/>
          </a:xfrm>
          <a:prstGeom prst="rect">
            <a:avLst/>
          </a:prstGeom>
        </p:spPr>
      </p:pic>
      <p:sp>
        <p:nvSpPr>
          <p:cNvPr id="27" name="texto-562"/>
          <p:cNvSpPr txBox="1"/>
          <p:nvPr/>
        </p:nvSpPr>
        <p:spPr>
          <a:xfrm>
            <a:off x="5222138" y="3310128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IA com custo controlado</a:t>
            </a:r>
            <a:endParaRPr lang="en-US" sz="1500" dirty="0"/>
          </a:p>
        </p:txBody>
      </p:sp>
      <p:sp>
        <p:nvSpPr>
          <p:cNvPr id="28" name="texto-563"/>
          <p:cNvSpPr txBox="1"/>
          <p:nvPr/>
        </p:nvSpPr>
        <p:spPr>
          <a:xfrm>
            <a:off x="5222138" y="365760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Créditos por plano e custo real registado</a:t>
            </a:r>
            <a:endParaRPr lang="en-US" sz="1200" dirty="0"/>
          </a:p>
        </p:txBody>
      </p:sp>
      <p:sp>
        <p:nvSpPr>
          <p:cNvPr id="29" name="cartao-564"/>
          <p:cNvSpPr/>
          <p:nvPr/>
        </p:nvSpPr>
        <p:spPr>
          <a:xfrm>
            <a:off x="8112557" y="3108960"/>
            <a:ext cx="3484778" cy="1234440"/>
          </a:xfrm>
          <a:prstGeom prst="roundRect">
            <a:avLst>
              <a:gd name="adj" fmla="val 7407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0" name="ponto-565"/>
          <p:cNvSpPr/>
          <p:nvPr/>
        </p:nvSpPr>
        <p:spPr>
          <a:xfrm>
            <a:off x="8341157" y="3337560"/>
            <a:ext cx="502920" cy="502920"/>
          </a:xfrm>
          <a:prstGeom prst="ellipse">
            <a:avLst/>
          </a:prstGeom>
          <a:solidFill>
            <a:srgbClr val="A07BF2"/>
          </a:solidFill>
          <a:ln w="12700">
            <a:solidFill>
              <a:srgbClr val="A07BF2"/>
            </a:solidFill>
            <a:prstDash val="solid"/>
          </a:ln>
        </p:spPr>
      </p:sp>
      <p:pic>
        <p:nvPicPr>
          <p:cNvPr id="31" name="icone-56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6887" y="3463290"/>
            <a:ext cx="251460" cy="251460"/>
          </a:xfrm>
          <a:prstGeom prst="rect">
            <a:avLst/>
          </a:prstGeom>
        </p:spPr>
      </p:pic>
      <p:sp>
        <p:nvSpPr>
          <p:cNvPr id="32" name="texto-567"/>
          <p:cNvSpPr txBox="1"/>
          <p:nvPr/>
        </p:nvSpPr>
        <p:spPr>
          <a:xfrm>
            <a:off x="8981237" y="3310128"/>
            <a:ext cx="24789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Portal e app DUC</a:t>
            </a:r>
            <a:endParaRPr lang="en-US" sz="1500" dirty="0"/>
          </a:p>
        </p:txBody>
      </p:sp>
      <p:sp>
        <p:nvSpPr>
          <p:cNvPr id="33" name="texto-568"/>
          <p:cNvSpPr txBox="1"/>
          <p:nvPr/>
        </p:nvSpPr>
        <p:spPr>
          <a:xfrm>
            <a:off x="8981237" y="3657600"/>
            <a:ext cx="24332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O cliente final também usa a plataforma</a:t>
            </a:r>
            <a:endParaRPr lang="en-US" sz="1200" dirty="0"/>
          </a:p>
        </p:txBody>
      </p:sp>
      <p:sp>
        <p:nvSpPr>
          <p:cNvPr id="34" name="cartao-569"/>
          <p:cNvSpPr/>
          <p:nvPr/>
        </p:nvSpPr>
        <p:spPr>
          <a:xfrm>
            <a:off x="594360" y="4663440"/>
            <a:ext cx="11002975" cy="1371600"/>
          </a:xfrm>
          <a:prstGeom prst="roundRect">
            <a:avLst>
              <a:gd name="adj" fmla="val 6667"/>
            </a:avLst>
          </a:prstGeom>
          <a:solidFill>
            <a:srgbClr val="1D1530"/>
          </a:solidFill>
          <a:ln w="9525">
            <a:solidFill>
              <a:srgbClr val="3A2A66"/>
            </a:solidFill>
            <a:prstDash val="solid"/>
          </a:ln>
        </p:spPr>
      </p:sp>
      <p:sp>
        <p:nvSpPr>
          <p:cNvPr id="35" name="texto-570"/>
          <p:cNvSpPr txBox="1"/>
          <p:nvPr/>
        </p:nvSpPr>
        <p:spPr>
          <a:xfrm>
            <a:off x="960120" y="4754880"/>
            <a:ext cx="102714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07BF2"/>
                </a:solidFill>
              </a:rPr>
              <a:t>O caminho: </a:t>
            </a:r>
            <a:pPr indent="0" marL="0">
              <a:buNone/>
            </a:pPr>
            <a:r>
              <a:rPr lang="en-US" sz="1600" dirty="0">
                <a:solidFill>
                  <a:srgbClr val="F5F0E8"/>
                </a:solidFill>
              </a:rPr>
              <a:t>provar a Olyvia na Mudelar, depois na BMG, e só então abrir a outras empresas de remodelação e manutenção. Cada empresa nova paga a plataforma e enriquece os dados.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571"/>
          <p:cNvSpPr txBox="1"/>
          <p:nvPr/>
        </p:nvSpPr>
        <p:spPr>
          <a:xfrm>
            <a:off x="59436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81CEBA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6517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Onde estamos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4348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8A39A"/>
                </a:solidFill>
              </a:rPr>
              <a:t>O trabalho em curso, o que falta e as datas que já estão fixadas.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572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EM CURSO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Cinco frentes desenvolvidas, ainda fora da plataforma</a:t>
            </a:r>
            <a:endParaRPr lang="en-US" sz="3000" dirty="0"/>
          </a:p>
        </p:txBody>
      </p:sp>
      <p:sp>
        <p:nvSpPr>
          <p:cNvPr id="4" name="texto-573"/>
          <p:cNvSpPr txBox="1"/>
          <p:nvPr/>
        </p:nvSpPr>
        <p:spPr>
          <a:xfrm>
            <a:off x="86868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6A64"/>
                </a:solidFill>
              </a:rPr>
              <a:t>FRENTE</a:t>
            </a:r>
            <a:endParaRPr lang="en-US" sz="1000" dirty="0"/>
          </a:p>
        </p:txBody>
      </p:sp>
      <p:sp>
        <p:nvSpPr>
          <p:cNvPr id="5" name="texto-574"/>
          <p:cNvSpPr txBox="1"/>
          <p:nvPr/>
        </p:nvSpPr>
        <p:spPr>
          <a:xfrm>
            <a:off x="278892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6A64"/>
                </a:solidFill>
              </a:rPr>
              <a:t>O QUE É</a:t>
            </a:r>
            <a:endParaRPr lang="en-US" sz="1000" dirty="0"/>
          </a:p>
        </p:txBody>
      </p:sp>
      <p:sp>
        <p:nvSpPr>
          <p:cNvPr id="6" name="texto-575"/>
          <p:cNvSpPr txBox="1"/>
          <p:nvPr/>
        </p:nvSpPr>
        <p:spPr>
          <a:xfrm>
            <a:off x="699516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6A64"/>
                </a:solidFill>
              </a:rPr>
              <a:t>QUEM</a:t>
            </a:r>
            <a:endParaRPr lang="en-US" sz="1000" dirty="0"/>
          </a:p>
        </p:txBody>
      </p:sp>
      <p:sp>
        <p:nvSpPr>
          <p:cNvPr id="7" name="texto-576"/>
          <p:cNvSpPr txBox="1"/>
          <p:nvPr/>
        </p:nvSpPr>
        <p:spPr>
          <a:xfrm>
            <a:off x="822960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6A64"/>
                </a:solidFill>
              </a:rPr>
              <a:t>ESTADO</a:t>
            </a:r>
            <a:endParaRPr lang="en-US" sz="1000" dirty="0"/>
          </a:p>
        </p:txBody>
      </p:sp>
      <p:sp>
        <p:nvSpPr>
          <p:cNvPr id="8" name="texto-577"/>
          <p:cNvSpPr txBox="1"/>
          <p:nvPr/>
        </p:nvSpPr>
        <p:spPr>
          <a:xfrm>
            <a:off x="996696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E6A64"/>
                </a:solidFill>
              </a:rPr>
              <a:t>PRÓXIMO PASSO</a:t>
            </a:r>
            <a:endParaRPr lang="en-US" sz="1000" dirty="0"/>
          </a:p>
        </p:txBody>
      </p:sp>
      <p:sp>
        <p:nvSpPr>
          <p:cNvPr id="9" name="cartao-578"/>
          <p:cNvSpPr/>
          <p:nvPr/>
        </p:nvSpPr>
        <p:spPr>
          <a:xfrm>
            <a:off x="594360" y="2039112"/>
            <a:ext cx="11002975" cy="676656"/>
          </a:xfrm>
          <a:prstGeom prst="roundRect">
            <a:avLst>
              <a:gd name="adj" fmla="val 1351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0" name="ponto-579"/>
          <p:cNvSpPr/>
          <p:nvPr/>
        </p:nvSpPr>
        <p:spPr>
          <a:xfrm>
            <a:off x="868680" y="2313432"/>
            <a:ext cx="128016" cy="128016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sp>
        <p:nvSpPr>
          <p:cNvPr id="11" name="texto-580"/>
          <p:cNvSpPr txBox="1"/>
          <p:nvPr/>
        </p:nvSpPr>
        <p:spPr>
          <a:xfrm>
            <a:off x="1097280" y="203911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RH</a:t>
            </a:r>
            <a:endParaRPr lang="en-US" sz="1500" dirty="0"/>
          </a:p>
        </p:txBody>
      </p:sp>
      <p:sp>
        <p:nvSpPr>
          <p:cNvPr id="12" name="texto-581"/>
          <p:cNvSpPr txBox="1"/>
          <p:nvPr/>
        </p:nvSpPr>
        <p:spPr>
          <a:xfrm>
            <a:off x="2788920" y="2039112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Assiduidade e ponto com localização, férias, contratos, fardamento, processamento salarial</a:t>
            </a:r>
            <a:endParaRPr lang="en-US" sz="1200" dirty="0"/>
          </a:p>
        </p:txBody>
      </p:sp>
      <p:sp>
        <p:nvSpPr>
          <p:cNvPr id="13" name="texto-582"/>
          <p:cNvSpPr txBox="1"/>
          <p:nvPr/>
        </p:nvSpPr>
        <p:spPr>
          <a:xfrm>
            <a:off x="6995160" y="2039112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0E8"/>
                </a:solidFill>
              </a:rPr>
              <a:t>Miguel</a:t>
            </a:r>
            <a:endParaRPr lang="en-US" sz="1250" dirty="0"/>
          </a:p>
        </p:txBody>
      </p:sp>
      <p:sp>
        <p:nvSpPr>
          <p:cNvPr id="14" name="texto-583"/>
          <p:cNvSpPr txBox="1"/>
          <p:nvPr/>
        </p:nvSpPr>
        <p:spPr>
          <a:xfrm>
            <a:off x="8229600" y="2039112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104 alterações por integrar</a:t>
            </a:r>
            <a:endParaRPr lang="en-US" sz="1200" dirty="0"/>
          </a:p>
        </p:txBody>
      </p:sp>
      <p:sp>
        <p:nvSpPr>
          <p:cNvPr id="15" name="texto-584"/>
          <p:cNvSpPr txBox="1"/>
          <p:nvPr/>
        </p:nvSpPr>
        <p:spPr>
          <a:xfrm>
            <a:off x="9966960" y="2039112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1CEBA"/>
                </a:solidFill>
              </a:rPr>
              <a:t>Decidir quando integrar</a:t>
            </a:r>
            <a:endParaRPr lang="en-US" sz="1250" dirty="0"/>
          </a:p>
        </p:txBody>
      </p:sp>
      <p:sp>
        <p:nvSpPr>
          <p:cNvPr id="16" name="cartao-585"/>
          <p:cNvSpPr/>
          <p:nvPr/>
        </p:nvSpPr>
        <p:spPr>
          <a:xfrm>
            <a:off x="594360" y="2825496"/>
            <a:ext cx="11002975" cy="676656"/>
          </a:xfrm>
          <a:prstGeom prst="roundRect">
            <a:avLst>
              <a:gd name="adj" fmla="val 1351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7" name="ponto-586"/>
          <p:cNvSpPr/>
          <p:nvPr/>
        </p:nvSpPr>
        <p:spPr>
          <a:xfrm>
            <a:off x="868680" y="3099816"/>
            <a:ext cx="128016" cy="128016"/>
          </a:xfrm>
          <a:prstGeom prst="ellipse">
            <a:avLst/>
          </a:prstGeom>
          <a:solidFill>
            <a:srgbClr val="A07BF2"/>
          </a:solidFill>
          <a:ln w="12700">
            <a:solidFill>
              <a:srgbClr val="A07BF2"/>
            </a:solidFill>
            <a:prstDash val="solid"/>
          </a:ln>
        </p:spPr>
      </p:sp>
      <p:sp>
        <p:nvSpPr>
          <p:cNvPr id="18" name="texto-587"/>
          <p:cNvSpPr txBox="1"/>
          <p:nvPr/>
        </p:nvSpPr>
        <p:spPr>
          <a:xfrm>
            <a:off x="1097280" y="2825496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Faturação</a:t>
            </a:r>
            <a:endParaRPr lang="en-US" sz="1500" dirty="0"/>
          </a:p>
        </p:txBody>
      </p:sp>
      <p:sp>
        <p:nvSpPr>
          <p:cNvPr id="19" name="texto-588"/>
          <p:cNvSpPr txBox="1"/>
          <p:nvPr/>
        </p:nvSpPr>
        <p:spPr>
          <a:xfrm>
            <a:off x="2788920" y="2825496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Página de faturação e pagamentos por Stripe</a:t>
            </a:r>
            <a:endParaRPr lang="en-US" sz="1200" dirty="0"/>
          </a:p>
        </p:txBody>
      </p:sp>
      <p:sp>
        <p:nvSpPr>
          <p:cNvPr id="20" name="texto-589"/>
          <p:cNvSpPr txBox="1"/>
          <p:nvPr/>
        </p:nvSpPr>
        <p:spPr>
          <a:xfrm>
            <a:off x="6995160" y="2825496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0E8"/>
                </a:solidFill>
              </a:rPr>
              <a:t>A confirmar</a:t>
            </a:r>
            <a:endParaRPr lang="en-US" sz="1250" dirty="0"/>
          </a:p>
        </p:txBody>
      </p:sp>
      <p:sp>
        <p:nvSpPr>
          <p:cNvPr id="21" name="texto-590"/>
          <p:cNvSpPr txBox="1"/>
          <p:nvPr/>
        </p:nvSpPr>
        <p:spPr>
          <a:xfrm>
            <a:off x="8229600" y="2825496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Ficou de fora em 30/09</a:t>
            </a:r>
            <a:endParaRPr lang="en-US" sz="1200" dirty="0"/>
          </a:p>
        </p:txBody>
      </p:sp>
      <p:sp>
        <p:nvSpPr>
          <p:cNvPr id="22" name="texto-591"/>
          <p:cNvSpPr txBox="1"/>
          <p:nvPr/>
        </p:nvSpPr>
        <p:spPr>
          <a:xfrm>
            <a:off x="9966960" y="2825496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07BF2"/>
                </a:solidFill>
              </a:rPr>
              <a:t>Decidir a ativação</a:t>
            </a:r>
            <a:endParaRPr lang="en-US" sz="1250" dirty="0"/>
          </a:p>
        </p:txBody>
      </p:sp>
      <p:sp>
        <p:nvSpPr>
          <p:cNvPr id="23" name="cartao-592"/>
          <p:cNvSpPr/>
          <p:nvPr/>
        </p:nvSpPr>
        <p:spPr>
          <a:xfrm>
            <a:off x="594360" y="3611880"/>
            <a:ext cx="11002975" cy="676656"/>
          </a:xfrm>
          <a:prstGeom prst="roundRect">
            <a:avLst>
              <a:gd name="adj" fmla="val 1351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4" name="ponto-593"/>
          <p:cNvSpPr/>
          <p:nvPr/>
        </p:nvSpPr>
        <p:spPr>
          <a:xfrm>
            <a:off x="868680" y="3886200"/>
            <a:ext cx="128016" cy="128016"/>
          </a:xfrm>
          <a:prstGeom prst="ellipse">
            <a:avLst/>
          </a:prstGeom>
          <a:solidFill>
            <a:srgbClr val="E84F70"/>
          </a:solidFill>
          <a:ln w="12700">
            <a:solidFill>
              <a:srgbClr val="E84F70"/>
            </a:solidFill>
            <a:prstDash val="solid"/>
          </a:ln>
        </p:spPr>
      </p:sp>
      <p:sp>
        <p:nvSpPr>
          <p:cNvPr id="25" name="texto-594"/>
          <p:cNvSpPr txBox="1"/>
          <p:nvPr/>
        </p:nvSpPr>
        <p:spPr>
          <a:xfrm>
            <a:off x="1097280" y="3611880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Orçamento V2</a:t>
            </a:r>
            <a:endParaRPr lang="en-US" sz="1500" dirty="0"/>
          </a:p>
        </p:txBody>
      </p:sp>
      <p:sp>
        <p:nvSpPr>
          <p:cNvPr id="26" name="texto-595"/>
          <p:cNvSpPr txBox="1"/>
          <p:nvPr/>
        </p:nvSpPr>
        <p:spPr>
          <a:xfrm>
            <a:off x="2788920" y="3611880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Da medida da casa à quantidade de material, automaticamente</a:t>
            </a:r>
            <a:endParaRPr lang="en-US" sz="1200" dirty="0"/>
          </a:p>
        </p:txBody>
      </p:sp>
      <p:sp>
        <p:nvSpPr>
          <p:cNvPr id="27" name="texto-596"/>
          <p:cNvSpPr txBox="1"/>
          <p:nvPr/>
        </p:nvSpPr>
        <p:spPr>
          <a:xfrm>
            <a:off x="6995160" y="3611880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0E8"/>
                </a:solidFill>
              </a:rPr>
              <a:t>Equipa</a:t>
            </a:r>
            <a:endParaRPr lang="en-US" sz="1250" dirty="0"/>
          </a:p>
        </p:txBody>
      </p:sp>
      <p:sp>
        <p:nvSpPr>
          <p:cNvPr id="28" name="texto-597"/>
          <p:cNvSpPr txBox="1"/>
          <p:nvPr/>
        </p:nvSpPr>
        <p:spPr>
          <a:xfrm>
            <a:off x="8229600" y="3611880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Diagnóstico feito, falta o motor</a:t>
            </a:r>
            <a:endParaRPr lang="en-US" sz="1200" dirty="0"/>
          </a:p>
        </p:txBody>
      </p:sp>
      <p:sp>
        <p:nvSpPr>
          <p:cNvPr id="29" name="texto-598"/>
          <p:cNvSpPr txBox="1"/>
          <p:nvPr/>
        </p:nvSpPr>
        <p:spPr>
          <a:xfrm>
            <a:off x="9966960" y="3611880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4F70"/>
                </a:solidFill>
              </a:rPr>
              <a:t>Rácios reais da Mudelar</a:t>
            </a:r>
            <a:endParaRPr lang="en-US" sz="1250" dirty="0"/>
          </a:p>
        </p:txBody>
      </p:sp>
      <p:sp>
        <p:nvSpPr>
          <p:cNvPr id="30" name="cartao-599"/>
          <p:cNvSpPr/>
          <p:nvPr/>
        </p:nvSpPr>
        <p:spPr>
          <a:xfrm>
            <a:off x="594360" y="4398264"/>
            <a:ext cx="11002975" cy="676656"/>
          </a:xfrm>
          <a:prstGeom prst="roundRect">
            <a:avLst>
              <a:gd name="adj" fmla="val 1351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1" name="ponto-600"/>
          <p:cNvSpPr/>
          <p:nvPr/>
        </p:nvSpPr>
        <p:spPr>
          <a:xfrm>
            <a:off x="868680" y="4672584"/>
            <a:ext cx="128016" cy="128016"/>
          </a:xfrm>
          <a:prstGeom prst="ellipse">
            <a:avLst/>
          </a:prstGeom>
          <a:solidFill>
            <a:srgbClr val="6F86FF"/>
          </a:solidFill>
          <a:ln w="12700">
            <a:solidFill>
              <a:srgbClr val="6F86FF"/>
            </a:solidFill>
            <a:prstDash val="solid"/>
          </a:ln>
        </p:spPr>
      </p:sp>
      <p:sp>
        <p:nvSpPr>
          <p:cNvPr id="32" name="texto-601"/>
          <p:cNvSpPr txBox="1"/>
          <p:nvPr/>
        </p:nvSpPr>
        <p:spPr>
          <a:xfrm>
            <a:off x="1097280" y="4398264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Operações v2</a:t>
            </a:r>
            <a:endParaRPr lang="en-US" sz="1500" dirty="0"/>
          </a:p>
        </p:txBody>
      </p:sp>
      <p:sp>
        <p:nvSpPr>
          <p:cNvPr id="33" name="texto-602"/>
          <p:cNvSpPr txBox="1"/>
          <p:nvPr/>
        </p:nvSpPr>
        <p:spPr>
          <a:xfrm>
            <a:off x="2788920" y="4398264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QR nos equipamentos, rota do dia, assinatura no telemóvel, sem rede</a:t>
            </a:r>
            <a:endParaRPr lang="en-US" sz="1200" dirty="0"/>
          </a:p>
        </p:txBody>
      </p:sp>
      <p:sp>
        <p:nvSpPr>
          <p:cNvPr id="34" name="texto-603"/>
          <p:cNvSpPr txBox="1"/>
          <p:nvPr/>
        </p:nvSpPr>
        <p:spPr>
          <a:xfrm>
            <a:off x="6995160" y="4398264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0E8"/>
                </a:solidFill>
              </a:rPr>
              <a:t>Ruben</a:t>
            </a:r>
            <a:endParaRPr lang="en-US" sz="1250" dirty="0"/>
          </a:p>
        </p:txBody>
      </p:sp>
      <p:sp>
        <p:nvSpPr>
          <p:cNvPr id="35" name="texto-604"/>
          <p:cNvSpPr txBox="1"/>
          <p:nvPr/>
        </p:nvSpPr>
        <p:spPr>
          <a:xfrm>
            <a:off x="8229600" y="4398264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Feito em set., por integrar</a:t>
            </a:r>
            <a:endParaRPr lang="en-US" sz="1200" dirty="0"/>
          </a:p>
        </p:txBody>
      </p:sp>
      <p:sp>
        <p:nvSpPr>
          <p:cNvPr id="36" name="texto-605"/>
          <p:cNvSpPr txBox="1"/>
          <p:nvPr/>
        </p:nvSpPr>
        <p:spPr>
          <a:xfrm>
            <a:off x="9966960" y="4398264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86FF"/>
                </a:solidFill>
              </a:rPr>
              <a:t>Integrar ou abandonar</a:t>
            </a:r>
            <a:endParaRPr lang="en-US" sz="1250" dirty="0"/>
          </a:p>
        </p:txBody>
      </p:sp>
      <p:sp>
        <p:nvSpPr>
          <p:cNvPr id="37" name="cartao-606"/>
          <p:cNvSpPr/>
          <p:nvPr/>
        </p:nvSpPr>
        <p:spPr>
          <a:xfrm>
            <a:off x="594360" y="5184648"/>
            <a:ext cx="11002975" cy="676656"/>
          </a:xfrm>
          <a:prstGeom prst="roundRect">
            <a:avLst>
              <a:gd name="adj" fmla="val 1351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8" name="ponto-607"/>
          <p:cNvSpPr/>
          <p:nvPr/>
        </p:nvSpPr>
        <p:spPr>
          <a:xfrm>
            <a:off x="868680" y="5458968"/>
            <a:ext cx="128016" cy="128016"/>
          </a:xfrm>
          <a:prstGeom prst="ellipse">
            <a:avLst/>
          </a:prstGeom>
          <a:solidFill>
            <a:srgbClr val="6F86FF"/>
          </a:solidFill>
          <a:ln w="12700">
            <a:solidFill>
              <a:srgbClr val="6F86FF"/>
            </a:solidFill>
            <a:prstDash val="solid"/>
          </a:ln>
        </p:spPr>
      </p:sp>
      <p:sp>
        <p:nvSpPr>
          <p:cNvPr id="39" name="texto-608"/>
          <p:cNvSpPr txBox="1"/>
          <p:nvPr/>
        </p:nvSpPr>
        <p:spPr>
          <a:xfrm>
            <a:off x="1097280" y="5184648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Stock</a:t>
            </a:r>
            <a:endParaRPr lang="en-US" sz="1500" dirty="0"/>
          </a:p>
        </p:txBody>
      </p:sp>
      <p:sp>
        <p:nvSpPr>
          <p:cNvPr id="40" name="texto-609"/>
          <p:cNvSpPr txBox="1"/>
          <p:nvPr/>
        </p:nvSpPr>
        <p:spPr>
          <a:xfrm>
            <a:off x="2788920" y="5184648"/>
            <a:ext cx="40233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Receção por código, packs, catálogo do fornecedor</a:t>
            </a:r>
            <a:endParaRPr lang="en-US" sz="1200" dirty="0"/>
          </a:p>
        </p:txBody>
      </p:sp>
      <p:sp>
        <p:nvSpPr>
          <p:cNvPr id="41" name="texto-610"/>
          <p:cNvSpPr txBox="1"/>
          <p:nvPr/>
        </p:nvSpPr>
        <p:spPr>
          <a:xfrm>
            <a:off x="6995160" y="5184648"/>
            <a:ext cx="11887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5F0E8"/>
                </a:solidFill>
              </a:rPr>
              <a:t>Rafa</a:t>
            </a:r>
            <a:endParaRPr lang="en-US" sz="1250" dirty="0"/>
          </a:p>
        </p:txBody>
      </p:sp>
      <p:sp>
        <p:nvSpPr>
          <p:cNvPr id="42" name="texto-611"/>
          <p:cNvSpPr txBox="1"/>
          <p:nvPr/>
        </p:nvSpPr>
        <p:spPr>
          <a:xfrm>
            <a:off x="8229600" y="5184648"/>
            <a:ext cx="1645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A39A"/>
                </a:solidFill>
              </a:rPr>
              <a:t>≈ 17 alterações por integrar</a:t>
            </a:r>
            <a:endParaRPr lang="en-US" sz="1200" dirty="0"/>
          </a:p>
        </p:txBody>
      </p:sp>
      <p:sp>
        <p:nvSpPr>
          <p:cNvPr id="43" name="texto-612"/>
          <p:cNvSpPr txBox="1"/>
          <p:nvPr/>
        </p:nvSpPr>
        <p:spPr>
          <a:xfrm>
            <a:off x="9966960" y="5184648"/>
            <a:ext cx="1600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F86FF"/>
                </a:solidFill>
              </a:rPr>
              <a:t>Concluir e integrar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613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O QUE FALTA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Três horizontes, por ordem</a:t>
            </a:r>
            <a:endParaRPr lang="en-US" sz="3000" dirty="0"/>
          </a:p>
        </p:txBody>
      </p:sp>
      <p:sp>
        <p:nvSpPr>
          <p:cNvPr id="4" name="cartao-614"/>
          <p:cNvSpPr/>
          <p:nvPr/>
        </p:nvSpPr>
        <p:spPr>
          <a:xfrm>
            <a:off x="594360" y="1691640"/>
            <a:ext cx="3484778" cy="4343400"/>
          </a:xfrm>
          <a:prstGeom prst="roundRect">
            <a:avLst>
              <a:gd name="adj" fmla="val 262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5" name="ret-615"/>
          <p:cNvSpPr/>
          <p:nvPr/>
        </p:nvSpPr>
        <p:spPr>
          <a:xfrm>
            <a:off x="868680" y="1965960"/>
            <a:ext cx="457200" cy="45720"/>
          </a:xfrm>
          <a:prstGeom prst="rect">
            <a:avLst/>
          </a:prstGeom>
          <a:solidFill>
            <a:srgbClr val="E84F70"/>
          </a:solidFill>
          <a:ln w="12700">
            <a:solidFill>
              <a:srgbClr val="E84F70"/>
            </a:solidFill>
            <a:prstDash val="solid"/>
          </a:ln>
        </p:spPr>
      </p:sp>
      <p:sp>
        <p:nvSpPr>
          <p:cNvPr id="6" name="texto-616"/>
          <p:cNvSpPr txBox="1"/>
          <p:nvPr/>
        </p:nvSpPr>
        <p:spPr>
          <a:xfrm>
            <a:off x="868680" y="21031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84F70"/>
                </a:solidFill>
              </a:rPr>
              <a:t>ATÉ À DEMO</a:t>
            </a:r>
            <a:endParaRPr lang="en-US" sz="1200" dirty="0"/>
          </a:p>
        </p:txBody>
      </p:sp>
      <p:sp>
        <p:nvSpPr>
          <p:cNvPr id="7" name="texto-617"/>
          <p:cNvSpPr txBox="1"/>
          <p:nvPr/>
        </p:nvSpPr>
        <p:spPr>
          <a:xfrm>
            <a:off x="868680" y="2395728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07/10</a:t>
            </a:r>
            <a:endParaRPr lang="en-US" sz="2000" dirty="0"/>
          </a:p>
        </p:txBody>
      </p:sp>
      <p:sp>
        <p:nvSpPr>
          <p:cNvPr id="8" name="texto-618"/>
          <p:cNvSpPr txBox="1"/>
          <p:nvPr/>
        </p:nvSpPr>
        <p:spPr>
          <a:xfrm>
            <a:off x="868680" y="3017520"/>
            <a:ext cx="293613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39A"/>
                </a:solidFill>
              </a:rPr>
              <a:t>Dados de exemplo na Mudelar para Validar e Métricas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39A"/>
                </a:solidFill>
              </a:rPr>
              <a:t>Textos em inglês nos ecrãs da demo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39A"/>
                </a:solidFill>
              </a:rPr>
              <a:t>Testes de ponta a ponta a 5 e 6/10</a:t>
            </a:r>
            <a:endParaRPr lang="en-US" sz="1350" dirty="0"/>
          </a:p>
        </p:txBody>
      </p:sp>
      <p:sp>
        <p:nvSpPr>
          <p:cNvPr id="9" name="seta-619"/>
          <p:cNvSpPr/>
          <p:nvPr/>
        </p:nvSpPr>
        <p:spPr>
          <a:xfrm>
            <a:off x="4115714" y="3840480"/>
            <a:ext cx="201168" cy="0"/>
          </a:xfrm>
          <a:prstGeom prst="line">
            <a:avLst/>
          </a:prstGeom>
          <a:noFill/>
          <a:ln w="19050">
            <a:solidFill>
              <a:srgbClr val="6E6A64"/>
            </a:solidFill>
            <a:prstDash val="solid"/>
            <a:tailEnd type="triangle"/>
          </a:ln>
        </p:spPr>
      </p:sp>
      <p:sp>
        <p:nvSpPr>
          <p:cNvPr id="10" name="cartao-620"/>
          <p:cNvSpPr/>
          <p:nvPr/>
        </p:nvSpPr>
        <p:spPr>
          <a:xfrm>
            <a:off x="4353458" y="1691640"/>
            <a:ext cx="3484778" cy="4343400"/>
          </a:xfrm>
          <a:prstGeom prst="roundRect">
            <a:avLst>
              <a:gd name="adj" fmla="val 262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1" name="ret-621"/>
          <p:cNvSpPr/>
          <p:nvPr/>
        </p:nvSpPr>
        <p:spPr>
          <a:xfrm>
            <a:off x="4627778" y="1965960"/>
            <a:ext cx="457200" cy="45720"/>
          </a:xfrm>
          <a:prstGeom prst="rect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sp>
        <p:nvSpPr>
          <p:cNvPr id="12" name="texto-622"/>
          <p:cNvSpPr txBox="1"/>
          <p:nvPr/>
        </p:nvSpPr>
        <p:spPr>
          <a:xfrm>
            <a:off x="4627778" y="21031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81CEBA"/>
                </a:solidFill>
              </a:rPr>
              <a:t>PRÓXIMA FASE</a:t>
            </a:r>
            <a:endParaRPr lang="en-US" sz="1200" dirty="0"/>
          </a:p>
        </p:txBody>
      </p:sp>
      <p:sp>
        <p:nvSpPr>
          <p:cNvPr id="13" name="texto-623"/>
          <p:cNvSpPr txBox="1"/>
          <p:nvPr/>
        </p:nvSpPr>
        <p:spPr>
          <a:xfrm>
            <a:off x="4627778" y="2395728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a definir</a:t>
            </a:r>
            <a:endParaRPr lang="en-US" sz="2000" dirty="0"/>
          </a:p>
        </p:txBody>
      </p:sp>
      <p:sp>
        <p:nvSpPr>
          <p:cNvPr id="14" name="texto-624"/>
          <p:cNvSpPr txBox="1"/>
          <p:nvPr/>
        </p:nvSpPr>
        <p:spPr>
          <a:xfrm>
            <a:off x="4627778" y="3017520"/>
            <a:ext cx="293613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39A"/>
                </a:solidFill>
              </a:rPr>
              <a:t>Ficha do local no orçamento: proteções e deslocação discriminadas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39A"/>
                </a:solidFill>
              </a:rPr>
              <a:t>Tempos padrão validados pela equipa de obra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39A"/>
                </a:solidFill>
              </a:rPr>
              <a:t>Fotos da área de intervenção na visita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39A"/>
                </a:solidFill>
              </a:rPr>
              <a:t>Simplificar o percurso lead → cliente</a:t>
            </a:r>
            <a:endParaRPr lang="en-US" sz="1350" dirty="0"/>
          </a:p>
        </p:txBody>
      </p:sp>
      <p:sp>
        <p:nvSpPr>
          <p:cNvPr id="15" name="seta-625"/>
          <p:cNvSpPr/>
          <p:nvPr/>
        </p:nvSpPr>
        <p:spPr>
          <a:xfrm>
            <a:off x="7874813" y="3840480"/>
            <a:ext cx="201168" cy="0"/>
          </a:xfrm>
          <a:prstGeom prst="line">
            <a:avLst/>
          </a:prstGeom>
          <a:noFill/>
          <a:ln w="19050">
            <a:solidFill>
              <a:srgbClr val="6E6A64"/>
            </a:solidFill>
            <a:prstDash val="solid"/>
            <a:tailEnd type="triangle"/>
          </a:ln>
        </p:spPr>
      </p:sp>
      <p:sp>
        <p:nvSpPr>
          <p:cNvPr id="16" name="cartao-626"/>
          <p:cNvSpPr/>
          <p:nvPr/>
        </p:nvSpPr>
        <p:spPr>
          <a:xfrm>
            <a:off x="8112557" y="1691640"/>
            <a:ext cx="3484778" cy="4343400"/>
          </a:xfrm>
          <a:prstGeom prst="roundRect">
            <a:avLst>
              <a:gd name="adj" fmla="val 2624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7" name="ret-627"/>
          <p:cNvSpPr/>
          <p:nvPr/>
        </p:nvSpPr>
        <p:spPr>
          <a:xfrm>
            <a:off x="8386877" y="1965960"/>
            <a:ext cx="457200" cy="45720"/>
          </a:xfrm>
          <a:prstGeom prst="rect">
            <a:avLst/>
          </a:prstGeom>
          <a:solidFill>
            <a:srgbClr val="6F86FF"/>
          </a:solidFill>
          <a:ln w="12700">
            <a:solidFill>
              <a:srgbClr val="6F86FF"/>
            </a:solidFill>
            <a:prstDash val="solid"/>
          </a:ln>
        </p:spPr>
      </p:sp>
      <p:sp>
        <p:nvSpPr>
          <p:cNvPr id="18" name="texto-628"/>
          <p:cNvSpPr txBox="1"/>
          <p:nvPr/>
        </p:nvSpPr>
        <p:spPr>
          <a:xfrm>
            <a:off x="8386877" y="2103120"/>
            <a:ext cx="29361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F86FF"/>
                </a:solidFill>
              </a:rPr>
              <a:t>A SEGUIR</a:t>
            </a:r>
            <a:endParaRPr lang="en-US" sz="1200" dirty="0"/>
          </a:p>
        </p:txBody>
      </p:sp>
      <p:sp>
        <p:nvSpPr>
          <p:cNvPr id="19" name="texto-629"/>
          <p:cNvSpPr txBox="1"/>
          <p:nvPr/>
        </p:nvSpPr>
        <p:spPr>
          <a:xfrm>
            <a:off x="8386877" y="2395728"/>
            <a:ext cx="293613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 a definir</a:t>
            </a:r>
            <a:endParaRPr lang="en-US" sz="2000" dirty="0"/>
          </a:p>
        </p:txBody>
      </p:sp>
      <p:sp>
        <p:nvSpPr>
          <p:cNvPr id="20" name="texto-630"/>
          <p:cNvSpPr txBox="1"/>
          <p:nvPr/>
        </p:nvSpPr>
        <p:spPr>
          <a:xfrm>
            <a:off x="8386877" y="3017520"/>
            <a:ext cx="293613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39A"/>
                </a:solidFill>
              </a:rPr>
              <a:t>Dados do local ao marmorista, com a data da obra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39A"/>
                </a:solidFill>
              </a:rPr>
              <a:t>Pessoas por especialidade e capacidade no plano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39A"/>
                </a:solidFill>
              </a:rPr>
              <a:t>Prazos dos materiais a condicionar a obra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A8A39A"/>
                </a:solidFill>
              </a:rPr>
              <a:t>Avisos no sino e agenda com férias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631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1CEBA"/>
                </a:solidFill>
              </a:rPr>
              <a:t>CALENDÁRIO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Quatro datas fixadas; as restantes saem desta reunião</a:t>
            </a:r>
            <a:endParaRPr lang="en-US" sz="3000" dirty="0"/>
          </a:p>
        </p:txBody>
      </p:sp>
      <p:sp>
        <p:nvSpPr>
          <p:cNvPr id="4" name="linha-632"/>
          <p:cNvSpPr/>
          <p:nvPr/>
        </p:nvSpPr>
        <p:spPr>
          <a:xfrm>
            <a:off x="1694658" y="3063240"/>
            <a:ext cx="8802380" cy="0"/>
          </a:xfrm>
          <a:prstGeom prst="line">
            <a:avLst/>
          </a:prstGeom>
          <a:noFill/>
          <a:ln w="25400">
            <a:solidFill>
              <a:srgbClr val="3A3A3A"/>
            </a:solidFill>
            <a:prstDash val="solid"/>
          </a:ln>
        </p:spPr>
      </p:sp>
      <p:sp>
        <p:nvSpPr>
          <p:cNvPr id="5" name="texto-633"/>
          <p:cNvSpPr txBox="1"/>
          <p:nvPr/>
        </p:nvSpPr>
        <p:spPr>
          <a:xfrm>
            <a:off x="594360" y="1965960"/>
            <a:ext cx="22005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03/10</a:t>
            </a:r>
            <a:endParaRPr lang="en-US" sz="3000" dirty="0"/>
          </a:p>
        </p:txBody>
      </p:sp>
      <p:sp>
        <p:nvSpPr>
          <p:cNvPr id="6" name="ponto-634"/>
          <p:cNvSpPr/>
          <p:nvPr/>
        </p:nvSpPr>
        <p:spPr>
          <a:xfrm>
            <a:off x="1539210" y="2907792"/>
            <a:ext cx="310896" cy="310896"/>
          </a:xfrm>
          <a:prstGeom prst="ellipse">
            <a:avLst/>
          </a:prstGeom>
          <a:solidFill>
            <a:srgbClr val="81CEBA"/>
          </a:solidFill>
          <a:ln w="12700">
            <a:solidFill>
              <a:srgbClr val="81CEBA"/>
            </a:solidFill>
            <a:prstDash val="solid"/>
          </a:ln>
        </p:spPr>
      </p:sp>
      <p:sp>
        <p:nvSpPr>
          <p:cNvPr id="7" name="rret-635"/>
          <p:cNvSpPr/>
          <p:nvPr/>
        </p:nvSpPr>
        <p:spPr>
          <a:xfrm>
            <a:off x="1054578" y="34747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81CEBA"/>
          </a:solidFill>
          <a:ln w="6350">
            <a:solidFill>
              <a:srgbClr val="81CEBA"/>
            </a:solidFill>
            <a:prstDash val="solid"/>
          </a:ln>
        </p:spPr>
      </p:sp>
      <p:sp>
        <p:nvSpPr>
          <p:cNvPr id="8" name="texto-636"/>
          <p:cNvSpPr txBox="1"/>
          <p:nvPr/>
        </p:nvSpPr>
        <p:spPr>
          <a:xfrm>
            <a:off x="1054578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FEITO</a:t>
            </a:r>
            <a:endParaRPr lang="en-US" sz="1000" dirty="0"/>
          </a:p>
        </p:txBody>
      </p:sp>
      <p:sp>
        <p:nvSpPr>
          <p:cNvPr id="9" name="texto-637"/>
          <p:cNvSpPr txBox="1"/>
          <p:nvPr/>
        </p:nvSpPr>
        <p:spPr>
          <a:xfrm>
            <a:off x="731520" y="3931920"/>
            <a:ext cx="19262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39A"/>
                </a:solidFill>
              </a:rPr>
              <a:t>Planeamento automático em produção</a:t>
            </a:r>
            <a:endParaRPr lang="en-US" sz="1400" dirty="0"/>
          </a:p>
        </p:txBody>
      </p:sp>
      <p:sp>
        <p:nvSpPr>
          <p:cNvPr id="10" name="texto-638"/>
          <p:cNvSpPr txBox="1"/>
          <p:nvPr/>
        </p:nvSpPr>
        <p:spPr>
          <a:xfrm>
            <a:off x="2794955" y="1965960"/>
            <a:ext cx="22005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05–06/10</a:t>
            </a:r>
            <a:endParaRPr lang="en-US" sz="3000" dirty="0"/>
          </a:p>
        </p:txBody>
      </p:sp>
      <p:sp>
        <p:nvSpPr>
          <p:cNvPr id="11" name="ponto-639"/>
          <p:cNvSpPr/>
          <p:nvPr/>
        </p:nvSpPr>
        <p:spPr>
          <a:xfrm>
            <a:off x="3739805" y="2907792"/>
            <a:ext cx="310896" cy="310896"/>
          </a:xfrm>
          <a:prstGeom prst="ellipse">
            <a:avLst/>
          </a:prstGeom>
          <a:solidFill>
            <a:srgbClr val="6F86FF"/>
          </a:solidFill>
          <a:ln w="12700">
            <a:solidFill>
              <a:srgbClr val="6F86FF"/>
            </a:solidFill>
            <a:prstDash val="solid"/>
          </a:ln>
        </p:spPr>
      </p:sp>
      <p:sp>
        <p:nvSpPr>
          <p:cNvPr id="12" name="rret-640"/>
          <p:cNvSpPr/>
          <p:nvPr/>
        </p:nvSpPr>
        <p:spPr>
          <a:xfrm>
            <a:off x="3255173" y="34747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F86FF"/>
          </a:solidFill>
          <a:ln w="6350">
            <a:solidFill>
              <a:srgbClr val="6F86FF"/>
            </a:solidFill>
            <a:prstDash val="solid"/>
          </a:ln>
        </p:spPr>
      </p:sp>
      <p:sp>
        <p:nvSpPr>
          <p:cNvPr id="13" name="texto-641"/>
          <p:cNvSpPr txBox="1"/>
          <p:nvPr/>
        </p:nvSpPr>
        <p:spPr>
          <a:xfrm>
            <a:off x="3255173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PREVISTO</a:t>
            </a:r>
            <a:endParaRPr lang="en-US" sz="1000" dirty="0"/>
          </a:p>
        </p:txBody>
      </p:sp>
      <p:sp>
        <p:nvSpPr>
          <p:cNvPr id="14" name="texto-642"/>
          <p:cNvSpPr txBox="1"/>
          <p:nvPr/>
        </p:nvSpPr>
        <p:spPr>
          <a:xfrm>
            <a:off x="2932115" y="3931920"/>
            <a:ext cx="19262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39A"/>
                </a:solidFill>
              </a:rPr>
              <a:t>Testes de ponta a ponta</a:t>
            </a:r>
            <a:endParaRPr lang="en-US" sz="1400" dirty="0"/>
          </a:p>
        </p:txBody>
      </p:sp>
      <p:sp>
        <p:nvSpPr>
          <p:cNvPr id="15" name="texto-643"/>
          <p:cNvSpPr txBox="1"/>
          <p:nvPr/>
        </p:nvSpPr>
        <p:spPr>
          <a:xfrm>
            <a:off x="4995550" y="1965960"/>
            <a:ext cx="22005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06/10</a:t>
            </a:r>
            <a:endParaRPr lang="en-US" sz="3000" dirty="0"/>
          </a:p>
        </p:txBody>
      </p:sp>
      <p:sp>
        <p:nvSpPr>
          <p:cNvPr id="16" name="ponto-644"/>
          <p:cNvSpPr/>
          <p:nvPr/>
        </p:nvSpPr>
        <p:spPr>
          <a:xfrm>
            <a:off x="5940400" y="2907792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rret-645"/>
          <p:cNvSpPr/>
          <p:nvPr/>
        </p:nvSpPr>
        <p:spPr>
          <a:xfrm>
            <a:off x="5455768" y="34747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o-646"/>
          <p:cNvSpPr txBox="1"/>
          <p:nvPr/>
        </p:nvSpPr>
        <p:spPr>
          <a:xfrm>
            <a:off x="5455768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HOJE</a:t>
            </a:r>
            <a:endParaRPr lang="en-US" sz="1000" dirty="0"/>
          </a:p>
        </p:txBody>
      </p:sp>
      <p:sp>
        <p:nvSpPr>
          <p:cNvPr id="19" name="texto-647"/>
          <p:cNvSpPr txBox="1"/>
          <p:nvPr/>
        </p:nvSpPr>
        <p:spPr>
          <a:xfrm>
            <a:off x="5132710" y="3931920"/>
            <a:ext cx="19262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39A"/>
                </a:solidFill>
              </a:rPr>
              <a:t>Reunião de administração</a:t>
            </a:r>
            <a:endParaRPr lang="en-US" sz="1400" dirty="0"/>
          </a:p>
        </p:txBody>
      </p:sp>
      <p:sp>
        <p:nvSpPr>
          <p:cNvPr id="20" name="texto-648"/>
          <p:cNvSpPr txBox="1"/>
          <p:nvPr/>
        </p:nvSpPr>
        <p:spPr>
          <a:xfrm>
            <a:off x="7196145" y="1965960"/>
            <a:ext cx="22005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07/10</a:t>
            </a:r>
            <a:endParaRPr lang="en-US" sz="3000" dirty="0"/>
          </a:p>
        </p:txBody>
      </p:sp>
      <p:sp>
        <p:nvSpPr>
          <p:cNvPr id="21" name="ponto-649"/>
          <p:cNvSpPr/>
          <p:nvPr/>
        </p:nvSpPr>
        <p:spPr>
          <a:xfrm>
            <a:off x="8140995" y="2907792"/>
            <a:ext cx="310896" cy="310896"/>
          </a:xfrm>
          <a:prstGeom prst="ellipse">
            <a:avLst/>
          </a:prstGeom>
          <a:solidFill>
            <a:srgbClr val="E84F70"/>
          </a:solidFill>
          <a:ln w="12700">
            <a:solidFill>
              <a:srgbClr val="E84F70"/>
            </a:solidFill>
            <a:prstDash val="solid"/>
          </a:ln>
        </p:spPr>
      </p:sp>
      <p:sp>
        <p:nvSpPr>
          <p:cNvPr id="22" name="rret-650"/>
          <p:cNvSpPr/>
          <p:nvPr/>
        </p:nvSpPr>
        <p:spPr>
          <a:xfrm>
            <a:off x="7656363" y="34747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E84F70"/>
          </a:solidFill>
          <a:ln w="6350">
            <a:solidFill>
              <a:srgbClr val="E84F70"/>
            </a:solidFill>
            <a:prstDash val="solid"/>
          </a:ln>
        </p:spPr>
      </p:sp>
      <p:sp>
        <p:nvSpPr>
          <p:cNvPr id="23" name="texto-651"/>
          <p:cNvSpPr txBox="1"/>
          <p:nvPr/>
        </p:nvSpPr>
        <p:spPr>
          <a:xfrm>
            <a:off x="7656363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PREVISTO</a:t>
            </a:r>
            <a:endParaRPr lang="en-US" sz="1000" dirty="0"/>
          </a:p>
        </p:txBody>
      </p:sp>
      <p:sp>
        <p:nvSpPr>
          <p:cNvPr id="24" name="texto-652"/>
          <p:cNvSpPr txBox="1"/>
          <p:nvPr/>
        </p:nvSpPr>
        <p:spPr>
          <a:xfrm>
            <a:off x="7333305" y="3931920"/>
            <a:ext cx="19262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39A"/>
                </a:solidFill>
              </a:rPr>
              <a:t>Apresentação e demo</a:t>
            </a:r>
            <a:endParaRPr lang="en-US" sz="1400" dirty="0"/>
          </a:p>
        </p:txBody>
      </p:sp>
      <p:sp>
        <p:nvSpPr>
          <p:cNvPr id="25" name="texto-653"/>
          <p:cNvSpPr txBox="1"/>
          <p:nvPr/>
        </p:nvSpPr>
        <p:spPr>
          <a:xfrm>
            <a:off x="9396740" y="1965960"/>
            <a:ext cx="22005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6A6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?</a:t>
            </a:r>
            <a:endParaRPr lang="en-US" sz="3000" dirty="0"/>
          </a:p>
        </p:txBody>
      </p:sp>
      <p:sp>
        <p:nvSpPr>
          <p:cNvPr id="26" name="ponto-654"/>
          <p:cNvSpPr/>
          <p:nvPr/>
        </p:nvSpPr>
        <p:spPr>
          <a:xfrm>
            <a:off x="10341590" y="2907792"/>
            <a:ext cx="310896" cy="310896"/>
          </a:xfrm>
          <a:prstGeom prst="ellipse">
            <a:avLst/>
          </a:prstGeom>
          <a:solidFill>
            <a:srgbClr val="6E6A64"/>
          </a:solidFill>
          <a:ln w="12700">
            <a:solidFill>
              <a:srgbClr val="6E6A64"/>
            </a:solidFill>
            <a:prstDash val="solid"/>
          </a:ln>
        </p:spPr>
      </p:sp>
      <p:sp>
        <p:nvSpPr>
          <p:cNvPr id="27" name="rret-655"/>
          <p:cNvSpPr/>
          <p:nvPr/>
        </p:nvSpPr>
        <p:spPr>
          <a:xfrm>
            <a:off x="9856958" y="3474720"/>
            <a:ext cx="1280160" cy="274320"/>
          </a:xfrm>
          <a:prstGeom prst="roundRect">
            <a:avLst>
              <a:gd name="adj" fmla="val 50000"/>
            </a:avLst>
          </a:prstGeom>
          <a:solidFill>
            <a:srgbClr val="6E6A64"/>
          </a:solidFill>
          <a:ln w="6350">
            <a:solidFill>
              <a:srgbClr val="6E6A64"/>
            </a:solidFill>
            <a:prstDash val="solid"/>
          </a:ln>
        </p:spPr>
      </p:sp>
      <p:sp>
        <p:nvSpPr>
          <p:cNvPr id="28" name="texto-656"/>
          <p:cNvSpPr txBox="1"/>
          <p:nvPr/>
        </p:nvSpPr>
        <p:spPr>
          <a:xfrm>
            <a:off x="9856958" y="3474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</a:rPr>
              <a:t>POR FIXAR</a:t>
            </a:r>
            <a:endParaRPr lang="en-US" sz="1000" dirty="0"/>
          </a:p>
        </p:txBody>
      </p:sp>
      <p:sp>
        <p:nvSpPr>
          <p:cNvPr id="29" name="texto-657"/>
          <p:cNvSpPr txBox="1"/>
          <p:nvPr/>
        </p:nvSpPr>
        <p:spPr>
          <a:xfrm>
            <a:off x="9533900" y="3931920"/>
            <a:ext cx="192627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A39A"/>
                </a:solidFill>
              </a:rPr>
              <a:t>Datas por frente, com responsável</a:t>
            </a:r>
            <a:endParaRPr lang="en-US" sz="1400" dirty="0"/>
          </a:p>
        </p:txBody>
      </p:sp>
      <p:sp>
        <p:nvSpPr>
          <p:cNvPr id="30" name="cartao-658"/>
          <p:cNvSpPr/>
          <p:nvPr/>
        </p:nvSpPr>
        <p:spPr>
          <a:xfrm>
            <a:off x="594360" y="4983480"/>
            <a:ext cx="11002975" cy="1051560"/>
          </a:xfrm>
          <a:prstGeom prst="roundRect">
            <a:avLst>
              <a:gd name="adj" fmla="val 8696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31" name="texto-659"/>
          <p:cNvSpPr txBox="1"/>
          <p:nvPr/>
        </p:nvSpPr>
        <p:spPr>
          <a:xfrm>
            <a:off x="914400" y="5029200"/>
            <a:ext cx="1036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CEBA"/>
                </a:solidFill>
              </a:rPr>
              <a:t>Proposta: </a:t>
            </a:r>
            <a:pPr indent="0" marL="0">
              <a:buNone/>
            </a:pPr>
            <a:r>
              <a:rPr lang="en-US" sz="1500" dirty="0">
                <a:solidFill>
                  <a:srgbClr val="F5F0E8"/>
                </a:solidFill>
              </a:rPr>
              <a:t>cada responsável traz uma data de conclusão para a sua frente até ao fim da semana da demo. Nenhuma data está nos documentos do projeto e não as inventámos.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660"/>
          <p:cNvSpPr txBox="1"/>
          <p:nvPr/>
        </p:nvSpPr>
        <p:spPr>
          <a:xfrm>
            <a:off x="594360" y="14630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dirty="0">
                <a:solidFill>
                  <a:srgbClr val="E84F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6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94360" y="265176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Decisões que pedimos</a:t>
            </a:r>
            <a:endParaRPr lang="en-US" sz="4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94360" y="443484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dirty="0">
                <a:solidFill>
                  <a:srgbClr val="A8A39A"/>
                </a:solidFill>
              </a:rPr>
              <a:t>Seis pontos que desbloqueiam a próxima fase.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-661"/>
          <p:cNvSpPr txBox="1"/>
          <p:nvPr/>
        </p:nvSpPr>
        <p:spPr>
          <a:xfrm>
            <a:off x="59436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4F70"/>
                </a:solidFill>
              </a:rPr>
              <a:t>PARA DECIDIR HOJE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94360" y="713232"/>
            <a:ext cx="110029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Seis decisões da administração</a:t>
            </a:r>
            <a:endParaRPr lang="en-US" sz="3000" dirty="0"/>
          </a:p>
        </p:txBody>
      </p:sp>
      <p:sp>
        <p:nvSpPr>
          <p:cNvPr id="4" name="cartao-662"/>
          <p:cNvSpPr/>
          <p:nvPr/>
        </p:nvSpPr>
        <p:spPr>
          <a:xfrm>
            <a:off x="594360" y="1691640"/>
            <a:ext cx="5364328" cy="1261872"/>
          </a:xfrm>
          <a:prstGeom prst="roundRect">
            <a:avLst>
              <a:gd name="adj" fmla="val 7246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5" name="texto-663"/>
          <p:cNvSpPr txBox="1"/>
          <p:nvPr/>
        </p:nvSpPr>
        <p:spPr>
          <a:xfrm>
            <a:off x="868680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4F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o-664"/>
          <p:cNvSpPr txBox="1"/>
          <p:nvPr/>
        </p:nvSpPr>
        <p:spPr>
          <a:xfrm>
            <a:off x="1737360" y="1892808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Impacto da ficha do local no preço</a:t>
            </a:r>
            <a:endParaRPr lang="en-US" sz="1700" dirty="0"/>
          </a:p>
        </p:txBody>
      </p:sp>
      <p:sp>
        <p:nvSpPr>
          <p:cNvPr id="7" name="texto-665"/>
          <p:cNvSpPr txBox="1"/>
          <p:nvPr/>
        </p:nvSpPr>
        <p:spPr>
          <a:xfrm>
            <a:off x="1737360" y="2286000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Percentagem fixa por parâmetro, ou definida por quem preenche? Com responsabilização na comissão?</a:t>
            </a:r>
            <a:endParaRPr lang="en-US" sz="1300" dirty="0"/>
          </a:p>
        </p:txBody>
      </p:sp>
      <p:sp>
        <p:nvSpPr>
          <p:cNvPr id="8" name="cartao-666"/>
          <p:cNvSpPr/>
          <p:nvPr/>
        </p:nvSpPr>
        <p:spPr>
          <a:xfrm>
            <a:off x="6233008" y="1691640"/>
            <a:ext cx="5364328" cy="1261872"/>
          </a:xfrm>
          <a:prstGeom prst="roundRect">
            <a:avLst>
              <a:gd name="adj" fmla="val 7246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9" name="texto-667"/>
          <p:cNvSpPr txBox="1"/>
          <p:nvPr/>
        </p:nvSpPr>
        <p:spPr>
          <a:xfrm>
            <a:off x="6507328" y="19202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4F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o-668"/>
          <p:cNvSpPr txBox="1"/>
          <p:nvPr/>
        </p:nvSpPr>
        <p:spPr>
          <a:xfrm>
            <a:off x="7376008" y="1892808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Armazém de referência</a:t>
            </a:r>
            <a:endParaRPr lang="en-US" sz="1700" dirty="0"/>
          </a:p>
        </p:txBody>
      </p:sp>
      <p:sp>
        <p:nvSpPr>
          <p:cNvPr id="11" name="texto-669"/>
          <p:cNvSpPr txBox="1"/>
          <p:nvPr/>
        </p:nvSpPr>
        <p:spPr>
          <a:xfrm>
            <a:off x="7376008" y="2286000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Ponto de partida para quilómetros, combustível e estacionamento no orçamento.</a:t>
            </a:r>
            <a:endParaRPr lang="en-US" sz="1300" dirty="0"/>
          </a:p>
        </p:txBody>
      </p:sp>
      <p:sp>
        <p:nvSpPr>
          <p:cNvPr id="12" name="cartao-670"/>
          <p:cNvSpPr/>
          <p:nvPr/>
        </p:nvSpPr>
        <p:spPr>
          <a:xfrm>
            <a:off x="594360" y="3136392"/>
            <a:ext cx="5364328" cy="1261872"/>
          </a:xfrm>
          <a:prstGeom prst="roundRect">
            <a:avLst>
              <a:gd name="adj" fmla="val 7246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3" name="texto-671"/>
          <p:cNvSpPr txBox="1"/>
          <p:nvPr/>
        </p:nvSpPr>
        <p:spPr>
          <a:xfrm>
            <a:off x="868680" y="33649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4F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o-672"/>
          <p:cNvSpPr txBox="1"/>
          <p:nvPr/>
        </p:nvSpPr>
        <p:spPr>
          <a:xfrm>
            <a:off x="1737360" y="33375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RH e faturação</a:t>
            </a:r>
            <a:endParaRPr lang="en-US" sz="1700" dirty="0"/>
          </a:p>
        </p:txBody>
      </p:sp>
      <p:sp>
        <p:nvSpPr>
          <p:cNvPr id="15" name="texto-673"/>
          <p:cNvSpPr txBox="1"/>
          <p:nvPr/>
        </p:nvSpPr>
        <p:spPr>
          <a:xfrm>
            <a:off x="1737360" y="3730752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Integrar na plataforma e quando; ativar os pagamentos.</a:t>
            </a:r>
            <a:endParaRPr lang="en-US" sz="1300" dirty="0"/>
          </a:p>
        </p:txBody>
      </p:sp>
      <p:sp>
        <p:nvSpPr>
          <p:cNvPr id="16" name="cartao-674"/>
          <p:cNvSpPr/>
          <p:nvPr/>
        </p:nvSpPr>
        <p:spPr>
          <a:xfrm>
            <a:off x="6233008" y="3136392"/>
            <a:ext cx="5364328" cy="1261872"/>
          </a:xfrm>
          <a:prstGeom prst="roundRect">
            <a:avLst>
              <a:gd name="adj" fmla="val 7246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17" name="texto-675"/>
          <p:cNvSpPr txBox="1"/>
          <p:nvPr/>
        </p:nvSpPr>
        <p:spPr>
          <a:xfrm>
            <a:off x="6507328" y="3364992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4F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o-676"/>
          <p:cNvSpPr txBox="1"/>
          <p:nvPr/>
        </p:nvSpPr>
        <p:spPr>
          <a:xfrm>
            <a:off x="7376008" y="3337560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Rácios reais da Mudelar</a:t>
            </a:r>
            <a:endParaRPr lang="en-US" sz="1700" dirty="0"/>
          </a:p>
        </p:txBody>
      </p:sp>
      <p:sp>
        <p:nvSpPr>
          <p:cNvPr id="19" name="texto-677"/>
          <p:cNvSpPr txBox="1"/>
          <p:nvPr/>
        </p:nvSpPr>
        <p:spPr>
          <a:xfrm>
            <a:off x="7376008" y="3730752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Quem fornece as quantidades por medida que o Orçamento V2 precisa.</a:t>
            </a:r>
            <a:endParaRPr lang="en-US" sz="1300" dirty="0"/>
          </a:p>
        </p:txBody>
      </p:sp>
      <p:sp>
        <p:nvSpPr>
          <p:cNvPr id="20" name="cartao-678"/>
          <p:cNvSpPr/>
          <p:nvPr/>
        </p:nvSpPr>
        <p:spPr>
          <a:xfrm>
            <a:off x="594360" y="4581144"/>
            <a:ext cx="5364328" cy="1261872"/>
          </a:xfrm>
          <a:prstGeom prst="roundRect">
            <a:avLst>
              <a:gd name="adj" fmla="val 7246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1" name="texto-679"/>
          <p:cNvSpPr txBox="1"/>
          <p:nvPr/>
        </p:nvSpPr>
        <p:spPr>
          <a:xfrm>
            <a:off x="868680" y="480974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4F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05</a:t>
            </a:r>
            <a:endParaRPr lang="en-US" sz="3200" dirty="0"/>
          </a:p>
        </p:txBody>
      </p:sp>
      <p:sp>
        <p:nvSpPr>
          <p:cNvPr id="22" name="texto-680"/>
          <p:cNvSpPr txBox="1"/>
          <p:nvPr/>
        </p:nvSpPr>
        <p:spPr>
          <a:xfrm>
            <a:off x="1737360" y="4782312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Simplificar o percurso</a:t>
            </a:r>
            <a:endParaRPr lang="en-US" sz="1700" dirty="0"/>
          </a:p>
        </p:txBody>
      </p:sp>
      <p:sp>
        <p:nvSpPr>
          <p:cNvPr id="23" name="texto-681"/>
          <p:cNvSpPr txBox="1"/>
          <p:nvPr/>
        </p:nvSpPr>
        <p:spPr>
          <a:xfrm>
            <a:off x="1737360" y="5175504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Mandato para cortar passos e ecrãs entre lead e cliente depois da demo.</a:t>
            </a:r>
            <a:endParaRPr lang="en-US" sz="1300" dirty="0"/>
          </a:p>
        </p:txBody>
      </p:sp>
      <p:sp>
        <p:nvSpPr>
          <p:cNvPr id="24" name="cartao-682"/>
          <p:cNvSpPr/>
          <p:nvPr/>
        </p:nvSpPr>
        <p:spPr>
          <a:xfrm>
            <a:off x="6233008" y="4581144"/>
            <a:ext cx="5364328" cy="1261872"/>
          </a:xfrm>
          <a:prstGeom prst="roundRect">
            <a:avLst>
              <a:gd name="adj" fmla="val 7246"/>
            </a:avLst>
          </a:prstGeom>
          <a:solidFill>
            <a:srgbClr val="181818"/>
          </a:solidFill>
          <a:ln w="9525">
            <a:solidFill>
              <a:srgbClr val="181818"/>
            </a:solidFill>
            <a:prstDash val="solid"/>
          </a:ln>
        </p:spPr>
      </p:sp>
      <p:sp>
        <p:nvSpPr>
          <p:cNvPr id="25" name="texto-683"/>
          <p:cNvSpPr txBox="1"/>
          <p:nvPr/>
        </p:nvSpPr>
        <p:spPr>
          <a:xfrm>
            <a:off x="6507328" y="4809744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4F70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06</a:t>
            </a:r>
            <a:endParaRPr lang="en-US" sz="3200" dirty="0"/>
          </a:p>
        </p:txBody>
      </p:sp>
      <p:sp>
        <p:nvSpPr>
          <p:cNvPr id="26" name="texto-684"/>
          <p:cNvSpPr txBox="1"/>
          <p:nvPr/>
        </p:nvSpPr>
        <p:spPr>
          <a:xfrm>
            <a:off x="7376008" y="4782312"/>
            <a:ext cx="3992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5F0E8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Datas e piloto BMG</a:t>
            </a:r>
            <a:endParaRPr lang="en-US" sz="1700" dirty="0"/>
          </a:p>
        </p:txBody>
      </p:sp>
      <p:sp>
        <p:nvSpPr>
          <p:cNvPr id="27" name="texto-685"/>
          <p:cNvSpPr txBox="1"/>
          <p:nvPr/>
        </p:nvSpPr>
        <p:spPr>
          <a:xfrm>
            <a:off x="7376008" y="5175504"/>
            <a:ext cx="39927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8A39A"/>
                </a:solidFill>
              </a:rPr>
              <a:t>Uma data por frente, com responsável; avançar ou não com o piloto de manutenção.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419088"/>
            <a:ext cx="41148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E6A6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echo-bmlar" descr="C:\Users\gdial\AppData\Local\Temp\claude\D--Olyvia-Olyvia-crm\b32b3cf7-d878-4d75-a914-1e326bfc0c92\scratchpad\deck/assets/bmlar-group-horizontal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548640"/>
            <a:ext cx="2194560" cy="768096"/>
          </a:xfrm>
          <a:prstGeom prst="rect">
            <a:avLst/>
          </a:prstGeom>
        </p:spPr>
      </p:pic>
      <p:sp>
        <p:nvSpPr>
          <p:cNvPr id="3" name="texto-686"/>
          <p:cNvSpPr txBox="1"/>
          <p:nvPr/>
        </p:nvSpPr>
        <p:spPr>
          <a:xfrm>
            <a:off x="594360" y="2103120"/>
            <a:ext cx="9144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Do edifício ao lar,</a:t>
            </a:r>
            <a:endParaRPr lang="en-US" sz="4800" dirty="0"/>
          </a:p>
          <a:p>
            <a:pPr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numa só plataforma.</a:t>
            </a:r>
            <a:endParaRPr lang="en-US" sz="4800" dirty="0"/>
          </a:p>
        </p:txBody>
      </p:sp>
      <p:sp>
        <p:nvSpPr>
          <p:cNvPr id="4" name="texto-687"/>
          <p:cNvSpPr txBox="1"/>
          <p:nvPr/>
        </p:nvSpPr>
        <p:spPr>
          <a:xfrm>
            <a:off x="594360" y="4069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5F0E8"/>
                </a:solidFill>
              </a:rPr>
              <a:t>Obrigado. Perguntas e decisões.</a:t>
            </a:r>
            <a:endParaRPr lang="en-US" sz="2000" dirty="0"/>
          </a:p>
        </p:txBody>
      </p:sp>
      <p:sp>
        <p:nvSpPr>
          <p:cNvPr id="5" name="rret-688"/>
          <p:cNvSpPr/>
          <p:nvPr/>
        </p:nvSpPr>
        <p:spPr>
          <a:xfrm>
            <a:off x="594360" y="5120640"/>
            <a:ext cx="219456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6" name="fecho-olyvia" descr="C:\Users\gdial\AppData\Local\Temp\claude\D--Olyvia-Olyvia-crm\b32b3cf7-d878-4d75-a914-1e326bfc0c92\scratchpad\deck/assets/olyvia-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30368"/>
            <a:ext cx="1737360" cy="576072"/>
          </a:xfrm>
          <a:prstGeom prst="rect">
            <a:avLst/>
          </a:prstGeom>
        </p:spPr>
      </p:pic>
      <p:pic>
        <p:nvPicPr>
          <p:cNvPr id="7" name="fecho-mudelar" descr="C:\Users\gdial\AppData\Local\Temp\claude\D--Olyvia-Olyvia-crm\b32b3cf7-d878-4d75-a914-1e326bfc0c92\scratchpad\deck/assets/mudelar-horizontal-branc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37560" y="5285232"/>
            <a:ext cx="1828800" cy="457200"/>
          </a:xfrm>
          <a:prstGeom prst="rect">
            <a:avLst/>
          </a:prstGeom>
        </p:spPr>
      </p:pic>
      <p:pic>
        <p:nvPicPr>
          <p:cNvPr id="8" name="fecho-bmg" descr="C:\Users\gdial\AppData\Local\Temp\claude\D--Olyvia-Olyvia-crm\b32b3cf7-d878-4d75-a914-1e326bfc0c92\scratchpad\deck/assets/bmg-services-horizontal-branc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5166360"/>
            <a:ext cx="1737360" cy="69494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MLAR Olyvia">
  <a:themeElements>
    <a:clrScheme name="BMLAR Olyvia">
      <a:dk1>
        <a:srgbClr val="000000"/>
      </a:dk1>
      <a:lt1>
        <a:srgbClr val="FFFFFF"/>
      </a:lt1>
      <a:dk2>
        <a:srgbClr val="181818"/>
      </a:dk2>
      <a:lt2>
        <a:srgbClr val="F5F0E8"/>
      </a:lt2>
      <a:accent1>
        <a:srgbClr val="67A392"/>
      </a:accent1>
      <a:accent2>
        <a:srgbClr val="81CEBA"/>
      </a:accent2>
      <a:accent3>
        <a:srgbClr val="4462FF"/>
      </a:accent3>
      <a:accent4>
        <a:srgbClr val="E84F70"/>
      </a:accent4>
      <a:accent5>
        <a:srgbClr val="763CE9"/>
      </a:accent5>
      <a:accent6>
        <a:srgbClr val="222222"/>
      </a:accent6>
      <a:hlink>
        <a:srgbClr val="6F86FF"/>
      </a:hlink>
      <a:folHlink>
        <a:srgbClr val="A07BF2"/>
      </a:folHlink>
    </a:clrScheme>
    <a:fontScheme name="BMLAR Olyvia">
      <a:majorFont>
        <a:latin typeface="Century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BMLAR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Olyvia — ponto de situação</dc:title>
  <dc:subject>PptxGenJS Presentation</dc:subject>
  <dc:creator>Ruben Carvalho</dc:creator>
  <cp:lastModifiedBy>Ruben Carvalho</cp:lastModifiedBy>
  <cp:revision>1</cp:revision>
  <dcterms:created xsi:type="dcterms:W3CDTF">2026-10-03T19:52:41Z</dcterms:created>
  <dcterms:modified xsi:type="dcterms:W3CDTF">2026-10-03T19:52:41Z</dcterms:modified>
</cp:coreProperties>
</file>